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Poppins" panose="00000500000000000000" pitchFamily="2" charset="0"/>
      <p:regular r:id="rId17"/>
    </p:embeddedFont>
    <p:embeddedFont>
      <p:font typeface="Poppins Extra-Light" panose="020B0604020202020204" charset="0"/>
      <p:regular r:id="rId18"/>
    </p:embeddedFont>
    <p:embeddedFont>
      <p:font typeface="Telegraf Medium"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5" d="100"/>
          <a:sy n="65" d="100"/>
        </p:scale>
        <p:origin x="8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769C47-1300-4089-A828-908BDABA8B7E}"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447BA5-D5B9-41FC-B65A-AA2F1ABE0705}" type="slidenum">
              <a:rPr lang="en-US" smtClean="0"/>
              <a:t>‹#›</a:t>
            </a:fld>
            <a:endParaRPr lang="en-US"/>
          </a:p>
        </p:txBody>
      </p:sp>
    </p:spTree>
    <p:extLst>
      <p:ext uri="{BB962C8B-B14F-4D97-AF65-F5344CB8AC3E}">
        <p14:creationId xmlns:p14="http://schemas.microsoft.com/office/powerpoint/2010/main" val="1907076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447BA5-D5B9-41FC-B65A-AA2F1ABE0705}" type="slidenum">
              <a:rPr lang="en-US" smtClean="0"/>
              <a:t>1</a:t>
            </a:fld>
            <a:endParaRPr lang="en-US"/>
          </a:p>
        </p:txBody>
      </p:sp>
    </p:spTree>
    <p:extLst>
      <p:ext uri="{BB962C8B-B14F-4D97-AF65-F5344CB8AC3E}">
        <p14:creationId xmlns:p14="http://schemas.microsoft.com/office/powerpoint/2010/main" val="3344851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sp>
        <p:nvSpPr>
          <p:cNvPr id="11" name="TextBox 11"/>
          <p:cNvSpPr txBox="1"/>
          <p:nvPr/>
        </p:nvSpPr>
        <p:spPr>
          <a:xfrm>
            <a:off x="2906972" y="2591018"/>
            <a:ext cx="12474056" cy="3744358"/>
          </a:xfrm>
          <a:prstGeom prst="rect">
            <a:avLst/>
          </a:prstGeom>
        </p:spPr>
        <p:txBody>
          <a:bodyPr lIns="0" tIns="0" rIns="0" bIns="0" rtlCol="0" anchor="t">
            <a:spAutoFit/>
          </a:bodyPr>
          <a:lstStyle/>
          <a:p>
            <a:pPr marL="0" lvl="0" indent="0" algn="ctr">
              <a:lnSpc>
                <a:spcPts val="7243"/>
              </a:lnSpc>
            </a:pPr>
            <a:r>
              <a:rPr lang="en-US" sz="8325" b="1" spc="-349" dirty="0">
                <a:solidFill>
                  <a:srgbClr val="52FFCB"/>
                </a:solidFill>
                <a:latin typeface="Telegraf Medium"/>
                <a:ea typeface="Telegraf Medium"/>
                <a:cs typeface="Telegraf Medium"/>
                <a:sym typeface="Telegraf Medium"/>
              </a:rPr>
              <a:t>Community Health Fair</a:t>
            </a:r>
          </a:p>
          <a:p>
            <a:pPr marL="0" lvl="0" indent="0" algn="ctr">
              <a:lnSpc>
                <a:spcPts val="7243"/>
              </a:lnSpc>
            </a:pPr>
            <a:r>
              <a:rPr lang="en-US" sz="6600" b="1" spc="-349" dirty="0">
                <a:solidFill>
                  <a:srgbClr val="52FFCB"/>
                </a:solidFill>
                <a:latin typeface="Telegraf Medium"/>
                <a:ea typeface="Telegraf Medium"/>
                <a:cs typeface="Telegraf Medium"/>
                <a:sym typeface="Telegraf Medium"/>
              </a:rPr>
              <a:t>MEDISCANAI</a:t>
            </a:r>
          </a:p>
          <a:p>
            <a:pPr marL="0" lvl="0" indent="0" algn="ctr">
              <a:lnSpc>
                <a:spcPts val="7243"/>
              </a:lnSpc>
            </a:pPr>
            <a:r>
              <a:rPr lang="en-US" sz="6600" b="1" spc="-349" dirty="0">
                <a:solidFill>
                  <a:srgbClr val="52FFCB"/>
                </a:solidFill>
                <a:latin typeface="Telegraf Medium"/>
                <a:ea typeface="Telegraf Medium"/>
                <a:cs typeface="Telegraf Medium"/>
                <a:sym typeface="Telegraf Medium"/>
              </a:rPr>
              <a:t>AI-BASED DISEASE DETECTION SYSTEM</a:t>
            </a:r>
          </a:p>
        </p:txBody>
      </p:sp>
      <p:sp>
        <p:nvSpPr>
          <p:cNvPr id="12" name="AutoShape 12"/>
          <p:cNvSpPr/>
          <p:nvPr/>
        </p:nvSpPr>
        <p:spPr>
          <a:xfrm>
            <a:off x="1212273" y="6512995"/>
            <a:ext cx="16047027" cy="0"/>
          </a:xfrm>
          <a:prstGeom prst="line">
            <a:avLst/>
          </a:prstGeom>
          <a:ln w="9525" cap="flat">
            <a:solidFill>
              <a:srgbClr val="52FFCB"/>
            </a:solidFill>
            <a:prstDash val="solid"/>
            <a:headEnd type="none" w="sm" len="sm"/>
            <a:tailEnd type="none" w="sm" len="sm"/>
          </a:ln>
        </p:spPr>
        <p:txBody>
          <a:bodyPr/>
          <a:lstStyle/>
          <a:p>
            <a:endParaRPr lang="en-US"/>
          </a:p>
        </p:txBody>
      </p:sp>
      <p:sp>
        <p:nvSpPr>
          <p:cNvPr id="13" name="AutoShape 13"/>
          <p:cNvSpPr/>
          <p:nvPr/>
        </p:nvSpPr>
        <p:spPr>
          <a:xfrm>
            <a:off x="10968942" y="6512995"/>
            <a:ext cx="0" cy="2745305"/>
          </a:xfrm>
          <a:prstGeom prst="line">
            <a:avLst/>
          </a:prstGeom>
          <a:ln w="9525" cap="flat">
            <a:solidFill>
              <a:srgbClr val="52FFCB"/>
            </a:solidFill>
            <a:prstDash val="solid"/>
            <a:headEnd type="none" w="sm" len="sm"/>
            <a:tailEnd type="none" w="sm" len="sm"/>
          </a:ln>
        </p:spPr>
        <p:txBody>
          <a:bodyPr/>
          <a:lstStyle/>
          <a:p>
            <a:endParaRPr lang="en-US"/>
          </a:p>
        </p:txBody>
      </p:sp>
      <p:sp>
        <p:nvSpPr>
          <p:cNvPr id="14" name="TextBox 14"/>
          <p:cNvSpPr txBox="1"/>
          <p:nvPr/>
        </p:nvSpPr>
        <p:spPr>
          <a:xfrm>
            <a:off x="2166533" y="7656193"/>
            <a:ext cx="8330672" cy="332169"/>
          </a:xfrm>
          <a:prstGeom prst="rect">
            <a:avLst/>
          </a:prstGeom>
        </p:spPr>
        <p:txBody>
          <a:bodyPr lIns="0" tIns="0" rIns="0" bIns="0" rtlCol="0" anchor="t">
            <a:spAutoFit/>
          </a:bodyPr>
          <a:lstStyle/>
          <a:p>
            <a:pPr marL="0" lvl="0" indent="0" algn="l">
              <a:lnSpc>
                <a:spcPts val="2691"/>
              </a:lnSpc>
              <a:spcBef>
                <a:spcPct val="0"/>
              </a:spcBef>
            </a:pPr>
            <a:r>
              <a:rPr lang="en-US" sz="1922">
                <a:solidFill>
                  <a:srgbClr val="52FFCB"/>
                </a:solidFill>
                <a:latin typeface="Poppins"/>
                <a:ea typeface="Poppins"/>
                <a:cs typeface="Poppins"/>
                <a:sym typeface="Poppins"/>
              </a:rPr>
              <a:t>Team: Tanish Sahore | Mandip Singh || Lovely Professional University </a:t>
            </a:r>
          </a:p>
        </p:txBody>
      </p:sp>
      <p:grpSp>
        <p:nvGrpSpPr>
          <p:cNvPr id="15" name="Group 15"/>
          <p:cNvGrpSpPr/>
          <p:nvPr/>
        </p:nvGrpSpPr>
        <p:grpSpPr>
          <a:xfrm>
            <a:off x="12469081" y="7157389"/>
            <a:ext cx="3282590" cy="997301"/>
            <a:chOff x="-1241" y="-47625"/>
            <a:chExt cx="332475" cy="101012"/>
          </a:xfrm>
        </p:grpSpPr>
        <p:sp>
          <p:nvSpPr>
            <p:cNvPr id="16" name="Freeform 16"/>
            <p:cNvSpPr/>
            <p:nvPr/>
          </p:nvSpPr>
          <p:spPr>
            <a:xfrm>
              <a:off x="-1241" y="-19800"/>
              <a:ext cx="331234" cy="53387"/>
            </a:xfrm>
            <a:custGeom>
              <a:avLst/>
              <a:gdLst/>
              <a:ahLst/>
              <a:cxnLst/>
              <a:rect l="l" t="t" r="r" b="b"/>
              <a:pathLst>
                <a:path w="331234" h="53387">
                  <a:moveTo>
                    <a:pt x="0" y="0"/>
                  </a:moveTo>
                  <a:lnTo>
                    <a:pt x="331234" y="0"/>
                  </a:lnTo>
                  <a:lnTo>
                    <a:pt x="331234" y="53387"/>
                  </a:lnTo>
                  <a:lnTo>
                    <a:pt x="0" y="53387"/>
                  </a:lnTo>
                  <a:close/>
                </a:path>
              </a:pathLst>
            </a:custGeom>
            <a:solidFill>
              <a:srgbClr val="52FFCB"/>
            </a:solidFill>
          </p:spPr>
          <p:txBody>
            <a:bodyPr/>
            <a:lstStyle/>
            <a:p>
              <a:endParaRPr lang="en-US"/>
            </a:p>
          </p:txBody>
        </p:sp>
        <p:sp>
          <p:nvSpPr>
            <p:cNvPr id="17" name="TextBox 17"/>
            <p:cNvSpPr txBox="1"/>
            <p:nvPr/>
          </p:nvSpPr>
          <p:spPr>
            <a:xfrm>
              <a:off x="0" y="-47625"/>
              <a:ext cx="331234" cy="101012"/>
            </a:xfrm>
            <a:prstGeom prst="rect">
              <a:avLst/>
            </a:prstGeom>
          </p:spPr>
          <p:txBody>
            <a:bodyPr lIns="91115" tIns="91115" rIns="91115" bIns="91115" rtlCol="0" anchor="ctr"/>
            <a:lstStyle/>
            <a:p>
              <a:pPr marL="0" lvl="0" indent="0" algn="ctr">
                <a:lnSpc>
                  <a:spcPts val="2239"/>
                </a:lnSpc>
              </a:pPr>
              <a:r>
                <a:rPr lang="en-US" sz="1599" dirty="0">
                  <a:solidFill>
                    <a:srgbClr val="184A3B"/>
                  </a:solidFill>
                  <a:latin typeface="Poppins"/>
                  <a:ea typeface="Poppins"/>
                  <a:cs typeface="Poppins"/>
                  <a:sym typeface="Poppins"/>
                </a:rPr>
                <a:t>MEDISCANAI.COM</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11" name="Group 11"/>
          <p:cNvGrpSpPr/>
          <p:nvPr/>
        </p:nvGrpSpPr>
        <p:grpSpPr>
          <a:xfrm>
            <a:off x="1212273" y="1028700"/>
            <a:ext cx="6269859" cy="8229600"/>
            <a:chOff x="0" y="0"/>
            <a:chExt cx="971365" cy="1274980"/>
          </a:xfrm>
        </p:grpSpPr>
        <p:sp>
          <p:nvSpPr>
            <p:cNvPr id="12" name="Freeform 12"/>
            <p:cNvSpPr/>
            <p:nvPr/>
          </p:nvSpPr>
          <p:spPr>
            <a:xfrm>
              <a:off x="0" y="0"/>
              <a:ext cx="971365" cy="1274980"/>
            </a:xfrm>
            <a:custGeom>
              <a:avLst/>
              <a:gdLst/>
              <a:ahLst/>
              <a:cxnLst/>
              <a:rect l="l" t="t" r="r" b="b"/>
              <a:pathLst>
                <a:path w="971365" h="1274980">
                  <a:moveTo>
                    <a:pt x="0" y="0"/>
                  </a:moveTo>
                  <a:lnTo>
                    <a:pt x="971365" y="0"/>
                  </a:lnTo>
                  <a:lnTo>
                    <a:pt x="971365" y="1274980"/>
                  </a:lnTo>
                  <a:lnTo>
                    <a:pt x="0" y="1274980"/>
                  </a:lnTo>
                  <a:close/>
                </a:path>
              </a:pathLst>
            </a:custGeom>
            <a:blipFill>
              <a:blip r:embed="rId2"/>
              <a:stretch>
                <a:fillRect t="-1046" b="-1046"/>
              </a:stretch>
            </a:blipFill>
            <a:ln cap="sq">
              <a:noFill/>
              <a:prstDash val="solid"/>
              <a:miter/>
            </a:ln>
          </p:spPr>
          <p:txBody>
            <a:bodyPr/>
            <a:lstStyle/>
            <a:p>
              <a:endParaRPr lang="en-US"/>
            </a:p>
          </p:txBody>
        </p:sp>
      </p:grpSp>
      <p:sp>
        <p:nvSpPr>
          <p:cNvPr id="13" name="TextBox 13"/>
          <p:cNvSpPr txBox="1"/>
          <p:nvPr/>
        </p:nvSpPr>
        <p:spPr>
          <a:xfrm>
            <a:off x="8110092" y="1938305"/>
            <a:ext cx="8469998" cy="1978086"/>
          </a:xfrm>
          <a:prstGeom prst="rect">
            <a:avLst/>
          </a:prstGeom>
        </p:spPr>
        <p:txBody>
          <a:bodyPr lIns="0" tIns="0" rIns="0" bIns="0" rtlCol="0" anchor="t">
            <a:spAutoFit/>
          </a:bodyPr>
          <a:lstStyle/>
          <a:p>
            <a:pPr marL="0" lvl="0" indent="0" algn="l">
              <a:lnSpc>
                <a:spcPts val="4878"/>
              </a:lnSpc>
            </a:pPr>
            <a:r>
              <a:rPr lang="en-US" sz="5607" b="1" spc="-235">
                <a:solidFill>
                  <a:srgbClr val="52FFCB"/>
                </a:solidFill>
                <a:latin typeface="Telegraf Medium"/>
                <a:ea typeface="Telegraf Medium"/>
                <a:cs typeface="Telegraf Medium"/>
                <a:sym typeface="Telegraf Medium"/>
              </a:rPr>
              <a:t>THE PROBLEM WITH TRADITIONAL HEALTHCARE</a:t>
            </a:r>
          </a:p>
        </p:txBody>
      </p:sp>
      <p:sp>
        <p:nvSpPr>
          <p:cNvPr id="14" name="TextBox 14"/>
          <p:cNvSpPr txBox="1"/>
          <p:nvPr/>
        </p:nvSpPr>
        <p:spPr>
          <a:xfrm>
            <a:off x="8161342" y="5834163"/>
            <a:ext cx="8469998" cy="441369"/>
          </a:xfrm>
          <a:prstGeom prst="rect">
            <a:avLst/>
          </a:prstGeom>
        </p:spPr>
        <p:txBody>
          <a:bodyPr lIns="0" tIns="0" rIns="0" bIns="0" rtlCol="0" anchor="t">
            <a:spAutoFit/>
          </a:bodyPr>
          <a:lstStyle/>
          <a:p>
            <a:pPr marL="0" lvl="0" indent="0" algn="l">
              <a:lnSpc>
                <a:spcPts val="3497"/>
              </a:lnSpc>
              <a:spcBef>
                <a:spcPct val="0"/>
              </a:spcBef>
            </a:pPr>
            <a:r>
              <a:rPr lang="en-US" sz="2498">
                <a:solidFill>
                  <a:srgbClr val="52FFCB"/>
                </a:solidFill>
                <a:latin typeface="Poppins"/>
                <a:ea typeface="Poppins"/>
                <a:cs typeface="Poppins"/>
                <a:sym typeface="Poppins"/>
              </a:rPr>
              <a:t>Why Change is Needed</a:t>
            </a:r>
          </a:p>
        </p:txBody>
      </p:sp>
      <p:sp>
        <p:nvSpPr>
          <p:cNvPr id="15" name="TextBox 15"/>
          <p:cNvSpPr txBox="1"/>
          <p:nvPr/>
        </p:nvSpPr>
        <p:spPr>
          <a:xfrm>
            <a:off x="8161342" y="6677375"/>
            <a:ext cx="8469998" cy="1785650"/>
          </a:xfrm>
          <a:prstGeom prst="rect">
            <a:avLst/>
          </a:prstGeom>
        </p:spPr>
        <p:txBody>
          <a:bodyPr lIns="0" tIns="0" rIns="0" bIns="0" rtlCol="0" anchor="t">
            <a:spAutoFit/>
          </a:bodyPr>
          <a:lstStyle/>
          <a:p>
            <a:pPr marL="0" lvl="0" indent="0" algn="just">
              <a:lnSpc>
                <a:spcPts val="2378"/>
              </a:lnSpc>
              <a:spcBef>
                <a:spcPct val="0"/>
              </a:spcBef>
            </a:pPr>
            <a:r>
              <a:rPr lang="en-US" sz="1698">
                <a:solidFill>
                  <a:srgbClr val="52FFCB"/>
                </a:solidFill>
                <a:latin typeface="Poppins Extra-Light"/>
                <a:ea typeface="Poppins Extra-Light"/>
                <a:cs typeface="Poppins Extra-Light"/>
                <a:sym typeface="Poppins Extra-Light"/>
              </a:rPr>
              <a:t>Traditional healthcare systems face critical challenges that impact patient outcomes. Delayed diagnoses often result from overworked physicians and limited diagnostic tools. Rural and underserved communities struggle with limited accessibility to specialist care. Human error in manual diagnosis leads to misdiagnosis rates of up to 12%. Long wait times for appointments and test results delay critical treatment decisions, putting lives at risk.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11" name="Group 11"/>
          <p:cNvGrpSpPr/>
          <p:nvPr/>
        </p:nvGrpSpPr>
        <p:grpSpPr>
          <a:xfrm>
            <a:off x="11433546" y="1028700"/>
            <a:ext cx="5825754" cy="8229600"/>
            <a:chOff x="0" y="0"/>
            <a:chExt cx="902562" cy="1274980"/>
          </a:xfrm>
        </p:grpSpPr>
        <p:sp>
          <p:nvSpPr>
            <p:cNvPr id="12" name="Freeform 12"/>
            <p:cNvSpPr/>
            <p:nvPr/>
          </p:nvSpPr>
          <p:spPr>
            <a:xfrm>
              <a:off x="0" y="0"/>
              <a:ext cx="902562" cy="1274980"/>
            </a:xfrm>
            <a:custGeom>
              <a:avLst/>
              <a:gdLst/>
              <a:ahLst/>
              <a:cxnLst/>
              <a:rect l="l" t="t" r="r" b="b"/>
              <a:pathLst>
                <a:path w="902562" h="1274980">
                  <a:moveTo>
                    <a:pt x="0" y="0"/>
                  </a:moveTo>
                  <a:lnTo>
                    <a:pt x="902562" y="0"/>
                  </a:lnTo>
                  <a:lnTo>
                    <a:pt x="902562" y="1274980"/>
                  </a:lnTo>
                  <a:lnTo>
                    <a:pt x="0" y="1274980"/>
                  </a:lnTo>
                  <a:close/>
                </a:path>
              </a:pathLst>
            </a:custGeom>
            <a:blipFill>
              <a:blip r:embed="rId2"/>
              <a:stretch>
                <a:fillRect t="-2534" b="-2534"/>
              </a:stretch>
            </a:blipFill>
            <a:ln cap="sq">
              <a:noFill/>
              <a:prstDash val="solid"/>
              <a:miter/>
            </a:ln>
          </p:spPr>
          <p:txBody>
            <a:bodyPr/>
            <a:lstStyle/>
            <a:p>
              <a:endParaRPr lang="en-US"/>
            </a:p>
          </p:txBody>
        </p:sp>
      </p:grpSp>
      <p:sp>
        <p:nvSpPr>
          <p:cNvPr id="13" name="TextBox 13"/>
          <p:cNvSpPr txBox="1"/>
          <p:nvPr/>
        </p:nvSpPr>
        <p:spPr>
          <a:xfrm>
            <a:off x="2064573" y="1985930"/>
            <a:ext cx="8469998" cy="1049656"/>
          </a:xfrm>
          <a:prstGeom prst="rect">
            <a:avLst/>
          </a:prstGeom>
        </p:spPr>
        <p:txBody>
          <a:bodyPr lIns="0" tIns="0" rIns="0" bIns="0" rtlCol="0" anchor="t">
            <a:spAutoFit/>
          </a:bodyPr>
          <a:lstStyle/>
          <a:p>
            <a:pPr marL="0" lvl="0" indent="0" algn="l">
              <a:lnSpc>
                <a:spcPts val="6960"/>
              </a:lnSpc>
            </a:pPr>
            <a:r>
              <a:rPr lang="en-US" sz="8000" b="1" spc="-336">
                <a:solidFill>
                  <a:srgbClr val="52FFCB"/>
                </a:solidFill>
                <a:latin typeface="Telegraf Medium"/>
                <a:ea typeface="Telegraf Medium"/>
                <a:cs typeface="Telegraf Medium"/>
                <a:sym typeface="Telegraf Medium"/>
              </a:rPr>
              <a:t>OBJECTIVES</a:t>
            </a:r>
          </a:p>
        </p:txBody>
      </p:sp>
      <p:sp>
        <p:nvSpPr>
          <p:cNvPr id="14" name="TextBox 14"/>
          <p:cNvSpPr txBox="1"/>
          <p:nvPr/>
        </p:nvSpPr>
        <p:spPr>
          <a:xfrm>
            <a:off x="2115823" y="5834163"/>
            <a:ext cx="8469998" cy="441369"/>
          </a:xfrm>
          <a:prstGeom prst="rect">
            <a:avLst/>
          </a:prstGeom>
        </p:spPr>
        <p:txBody>
          <a:bodyPr lIns="0" tIns="0" rIns="0" bIns="0" rtlCol="0" anchor="t">
            <a:spAutoFit/>
          </a:bodyPr>
          <a:lstStyle/>
          <a:p>
            <a:pPr marL="0" lvl="0" indent="0" algn="l">
              <a:lnSpc>
                <a:spcPts val="3497"/>
              </a:lnSpc>
              <a:spcBef>
                <a:spcPct val="0"/>
              </a:spcBef>
            </a:pPr>
            <a:r>
              <a:rPr lang="en-US" sz="2800" dirty="0">
                <a:solidFill>
                  <a:srgbClr val="52FFCB"/>
                </a:solidFill>
                <a:latin typeface="Poppins"/>
                <a:ea typeface="Poppins"/>
                <a:cs typeface="Poppins"/>
                <a:sym typeface="Poppins"/>
              </a:rPr>
              <a:t>What MediScanAI Aims to Achieve</a:t>
            </a:r>
          </a:p>
        </p:txBody>
      </p:sp>
      <p:sp>
        <p:nvSpPr>
          <p:cNvPr id="15" name="TextBox 15"/>
          <p:cNvSpPr txBox="1"/>
          <p:nvPr/>
        </p:nvSpPr>
        <p:spPr>
          <a:xfrm>
            <a:off x="2115823" y="6705950"/>
            <a:ext cx="8469998" cy="1839221"/>
          </a:xfrm>
          <a:prstGeom prst="rect">
            <a:avLst/>
          </a:prstGeom>
        </p:spPr>
        <p:txBody>
          <a:bodyPr lIns="0" tIns="0" rIns="0" bIns="0" rtlCol="0" anchor="t">
            <a:spAutoFit/>
          </a:bodyPr>
          <a:lstStyle/>
          <a:p>
            <a:pPr marL="0" lvl="0" indent="0" algn="just">
              <a:lnSpc>
                <a:spcPts val="1792"/>
              </a:lnSpc>
              <a:spcBef>
                <a:spcPct val="0"/>
              </a:spcBef>
            </a:pPr>
            <a:r>
              <a:rPr lang="en-US" sz="1280" dirty="0">
                <a:solidFill>
                  <a:srgbClr val="52FFCB"/>
                </a:solidFill>
                <a:latin typeface="Poppins Extra-Light"/>
                <a:ea typeface="Poppins Extra-Light"/>
                <a:cs typeface="Poppins Extra-Light"/>
                <a:sym typeface="Poppins Extra-Light"/>
              </a:rPr>
              <a:t>• </a:t>
            </a:r>
            <a:r>
              <a:rPr lang="en-US" sz="1600" dirty="0">
                <a:solidFill>
                  <a:srgbClr val="52FFCB"/>
                </a:solidFill>
                <a:latin typeface="Poppins Extra-Light"/>
                <a:ea typeface="Poppins Extra-Light"/>
                <a:cs typeface="Poppins Extra-Light"/>
                <a:sym typeface="Poppins Extra-Light"/>
              </a:rPr>
              <a:t>Early Disease Detection: Identify potential health risks before they become critical through predictive AI analysis</a:t>
            </a:r>
          </a:p>
          <a:p>
            <a:pPr marL="0" lvl="0" indent="0" algn="just">
              <a:lnSpc>
                <a:spcPts val="1792"/>
              </a:lnSpc>
              <a:spcBef>
                <a:spcPct val="0"/>
              </a:spcBef>
            </a:pPr>
            <a:r>
              <a:rPr lang="en-US" sz="1600" dirty="0">
                <a:solidFill>
                  <a:srgbClr val="52FFCB"/>
                </a:solidFill>
                <a:latin typeface="Poppins Extra-Light"/>
                <a:ea typeface="Poppins Extra-Light"/>
                <a:cs typeface="Poppins Extra-Light"/>
                <a:sym typeface="Poppins Extra-Light"/>
              </a:rPr>
              <a:t>• Accessible Healthcare: Provide instant medical insights to users regardless of location or time constraints</a:t>
            </a:r>
          </a:p>
          <a:p>
            <a:pPr marL="0" lvl="0" indent="0" algn="just">
              <a:lnSpc>
                <a:spcPts val="1792"/>
              </a:lnSpc>
              <a:spcBef>
                <a:spcPct val="0"/>
              </a:spcBef>
            </a:pPr>
            <a:r>
              <a:rPr lang="en-US" sz="1600" dirty="0">
                <a:solidFill>
                  <a:srgbClr val="52FFCB"/>
                </a:solidFill>
                <a:latin typeface="Poppins Extra-Light"/>
                <a:ea typeface="Poppins Extra-Light"/>
                <a:cs typeface="Poppins Extra-Light"/>
                <a:sym typeface="Poppins Extra-Light"/>
              </a:rPr>
              <a:t>• AI-Powered Accuracy: Leverage machine learning algorithms trained on extensive medical datasets for reliable predictions</a:t>
            </a:r>
          </a:p>
          <a:p>
            <a:pPr marL="0" lvl="0" indent="0" algn="just">
              <a:lnSpc>
                <a:spcPts val="1792"/>
              </a:lnSpc>
              <a:spcBef>
                <a:spcPct val="0"/>
              </a:spcBef>
            </a:pPr>
            <a:r>
              <a:rPr lang="en-US" sz="1600" dirty="0">
                <a:solidFill>
                  <a:srgbClr val="52FFCB"/>
                </a:solidFill>
                <a:latin typeface="Poppins Extra-Light"/>
                <a:ea typeface="Poppins Extra-Light"/>
                <a:cs typeface="Poppins Extra-Light"/>
                <a:sym typeface="Poppins Extra-Light"/>
              </a:rPr>
              <a:t>• Seamless User Experience: Deliver an intuitive interface that simplifies complex health data into actionable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906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sp>
        <p:nvSpPr>
          <p:cNvPr id="13" name="TextBox 13"/>
          <p:cNvSpPr txBox="1"/>
          <p:nvPr/>
        </p:nvSpPr>
        <p:spPr>
          <a:xfrm>
            <a:off x="3194826" y="1836385"/>
            <a:ext cx="12385415" cy="1049656"/>
          </a:xfrm>
          <a:prstGeom prst="rect">
            <a:avLst/>
          </a:prstGeom>
        </p:spPr>
        <p:txBody>
          <a:bodyPr lIns="0" tIns="0" rIns="0" bIns="0" rtlCol="0" anchor="t">
            <a:spAutoFit/>
          </a:bodyPr>
          <a:lstStyle/>
          <a:p>
            <a:pPr marL="0" lvl="0" indent="0" algn="ctr">
              <a:lnSpc>
                <a:spcPts val="6960"/>
              </a:lnSpc>
            </a:pPr>
            <a:r>
              <a:rPr lang="en-US" sz="8000" b="1" spc="-336">
                <a:solidFill>
                  <a:srgbClr val="52FFCB"/>
                </a:solidFill>
                <a:latin typeface="Telegraf Medium"/>
                <a:ea typeface="Telegraf Medium"/>
                <a:cs typeface="Telegraf Medium"/>
                <a:sym typeface="Telegraf Medium"/>
              </a:rPr>
              <a:t>SYSTEM ARCHITECTURE</a:t>
            </a:r>
          </a:p>
        </p:txBody>
      </p:sp>
      <p:sp>
        <p:nvSpPr>
          <p:cNvPr id="14" name="TextBox 14"/>
          <p:cNvSpPr txBox="1"/>
          <p:nvPr/>
        </p:nvSpPr>
        <p:spPr>
          <a:xfrm>
            <a:off x="10225733" y="6000784"/>
            <a:ext cx="6195294" cy="441369"/>
          </a:xfrm>
          <a:prstGeom prst="rect">
            <a:avLst/>
          </a:prstGeom>
        </p:spPr>
        <p:txBody>
          <a:bodyPr lIns="0" tIns="0" rIns="0" bIns="0" rtlCol="0" anchor="t">
            <a:spAutoFit/>
          </a:bodyPr>
          <a:lstStyle/>
          <a:p>
            <a:pPr marL="0" lvl="0" indent="0" algn="l">
              <a:lnSpc>
                <a:spcPts val="3497"/>
              </a:lnSpc>
              <a:spcBef>
                <a:spcPct val="0"/>
              </a:spcBef>
            </a:pPr>
            <a:r>
              <a:rPr lang="en-US" sz="2498">
                <a:solidFill>
                  <a:srgbClr val="52FFCB"/>
                </a:solidFill>
                <a:latin typeface="Poppins"/>
                <a:ea typeface="Poppins"/>
                <a:cs typeface="Poppins"/>
                <a:sym typeface="Poppins"/>
              </a:rPr>
              <a:t>Technical Infrastructure Overview</a:t>
            </a:r>
          </a:p>
        </p:txBody>
      </p:sp>
      <p:sp>
        <p:nvSpPr>
          <p:cNvPr id="15" name="TextBox 15"/>
          <p:cNvSpPr txBox="1"/>
          <p:nvPr/>
        </p:nvSpPr>
        <p:spPr>
          <a:xfrm>
            <a:off x="10225733" y="6863046"/>
            <a:ext cx="6195294" cy="1286023"/>
          </a:xfrm>
          <a:prstGeom prst="rect">
            <a:avLst/>
          </a:prstGeom>
        </p:spPr>
        <p:txBody>
          <a:bodyPr lIns="0" tIns="0" rIns="0" bIns="0" rtlCol="0" anchor="t">
            <a:spAutoFit/>
          </a:bodyPr>
          <a:lstStyle/>
          <a:p>
            <a:pPr marL="0" lvl="0" indent="0" algn="just">
              <a:lnSpc>
                <a:spcPts val="2091"/>
              </a:lnSpc>
              <a:spcBef>
                <a:spcPct val="0"/>
              </a:spcBef>
            </a:pPr>
            <a:r>
              <a:rPr lang="en-US" sz="1494">
                <a:solidFill>
                  <a:srgbClr val="52FFCB"/>
                </a:solidFill>
                <a:latin typeface="Poppins Extra-Light"/>
                <a:ea typeface="Poppins Extra-Light"/>
                <a:cs typeface="Poppins Extra-Light"/>
                <a:sym typeface="Poppins Extra-Light"/>
              </a:rPr>
              <a:t>Frontend: React.js with responsive UI components and real-time data visualization. Backend: Python Flask API handling requests and business logic. AI Model: Machine Learning algorithms for disease prediction. Database: Secure patient data storage with encryption. Cloud: AWS infrastructure for scalable, reliable deployment.</a:t>
            </a:r>
          </a:p>
        </p:txBody>
      </p:sp>
      <p:sp>
        <p:nvSpPr>
          <p:cNvPr id="16" name="AutoShape 16"/>
          <p:cNvSpPr/>
          <p:nvPr/>
        </p:nvSpPr>
        <p:spPr>
          <a:xfrm>
            <a:off x="1215004" y="4441327"/>
            <a:ext cx="16047027" cy="0"/>
          </a:xfrm>
          <a:prstGeom prst="line">
            <a:avLst/>
          </a:prstGeom>
          <a:ln w="9525" cap="flat">
            <a:solidFill>
              <a:srgbClr val="52FFCB"/>
            </a:solidFill>
            <a:prstDash val="solid"/>
            <a:headEnd type="none" w="sm" len="sm"/>
            <a:tailEnd type="none" w="sm" len="sm"/>
          </a:ln>
        </p:spPr>
        <p:txBody>
          <a:bodyPr/>
          <a:lstStyle/>
          <a:p>
            <a:endParaRPr lang="en-US"/>
          </a:p>
        </p:txBody>
      </p:sp>
      <p:pic>
        <p:nvPicPr>
          <p:cNvPr id="1028" name="Picture 4" descr="Demystifying High-Level Design (HLD) and Low-Level Design (LLD) in System Architecture | by Adityagaba | Medium">
            <a:extLst>
              <a:ext uri="{FF2B5EF4-FFF2-40B4-BE49-F238E27FC236}">
                <a16:creationId xmlns:a16="http://schemas.microsoft.com/office/drawing/2014/main" id="{26DBF386-117E-5583-3F96-AF1CCD901A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2273" y="4453016"/>
            <a:ext cx="8541327" cy="48052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11" name="Group 11"/>
          <p:cNvGrpSpPr/>
          <p:nvPr/>
        </p:nvGrpSpPr>
        <p:grpSpPr>
          <a:xfrm>
            <a:off x="11180324" y="1028700"/>
            <a:ext cx="5484474" cy="8229600"/>
            <a:chOff x="0" y="0"/>
            <a:chExt cx="849689" cy="1274980"/>
          </a:xfrm>
        </p:grpSpPr>
        <p:sp>
          <p:nvSpPr>
            <p:cNvPr id="12" name="Freeform 12"/>
            <p:cNvSpPr/>
            <p:nvPr/>
          </p:nvSpPr>
          <p:spPr>
            <a:xfrm>
              <a:off x="0" y="0"/>
              <a:ext cx="849689" cy="1274980"/>
            </a:xfrm>
            <a:custGeom>
              <a:avLst/>
              <a:gdLst/>
              <a:ahLst/>
              <a:cxnLst/>
              <a:rect l="l" t="t" r="r" b="b"/>
              <a:pathLst>
                <a:path w="849689" h="1274980">
                  <a:moveTo>
                    <a:pt x="0" y="0"/>
                  </a:moveTo>
                  <a:lnTo>
                    <a:pt x="849689" y="0"/>
                  </a:lnTo>
                  <a:lnTo>
                    <a:pt x="849689" y="1274980"/>
                  </a:lnTo>
                  <a:lnTo>
                    <a:pt x="0" y="1274980"/>
                  </a:lnTo>
                  <a:close/>
                </a:path>
              </a:pathLst>
            </a:custGeom>
            <a:blipFill>
              <a:blip r:embed="rId2"/>
              <a:stretch>
                <a:fillRect l="-548" r="-548"/>
              </a:stretch>
            </a:blipFill>
            <a:ln cap="sq">
              <a:noFill/>
              <a:prstDash val="solid"/>
              <a:miter/>
            </a:ln>
          </p:spPr>
          <p:txBody>
            <a:bodyPr/>
            <a:lstStyle/>
            <a:p>
              <a:endParaRPr lang="en-US"/>
            </a:p>
          </p:txBody>
        </p:sp>
      </p:grpSp>
      <p:sp>
        <p:nvSpPr>
          <p:cNvPr id="13" name="TextBox 13"/>
          <p:cNvSpPr txBox="1"/>
          <p:nvPr/>
        </p:nvSpPr>
        <p:spPr>
          <a:xfrm>
            <a:off x="2115823" y="2010307"/>
            <a:ext cx="7950605" cy="1925956"/>
          </a:xfrm>
          <a:prstGeom prst="rect">
            <a:avLst/>
          </a:prstGeom>
        </p:spPr>
        <p:txBody>
          <a:bodyPr lIns="0" tIns="0" rIns="0" bIns="0" rtlCol="0" anchor="t">
            <a:spAutoFit/>
          </a:bodyPr>
          <a:lstStyle/>
          <a:p>
            <a:pPr marL="0" lvl="0" indent="0" algn="l">
              <a:lnSpc>
                <a:spcPts val="6960"/>
              </a:lnSpc>
            </a:pPr>
            <a:r>
              <a:rPr lang="en-US" sz="8000" b="1" spc="-336">
                <a:solidFill>
                  <a:srgbClr val="52FFCB"/>
                </a:solidFill>
                <a:latin typeface="Telegraf Medium"/>
                <a:ea typeface="Telegraf Medium"/>
                <a:cs typeface="Telegraf Medium"/>
                <a:sym typeface="Telegraf Medium"/>
              </a:rPr>
              <a:t>WORKING OF THE SYSTEM</a:t>
            </a:r>
          </a:p>
        </p:txBody>
      </p:sp>
      <p:sp>
        <p:nvSpPr>
          <p:cNvPr id="14" name="TextBox 14"/>
          <p:cNvSpPr txBox="1"/>
          <p:nvPr/>
        </p:nvSpPr>
        <p:spPr>
          <a:xfrm>
            <a:off x="2115823" y="5834163"/>
            <a:ext cx="8469998" cy="441369"/>
          </a:xfrm>
          <a:prstGeom prst="rect">
            <a:avLst/>
          </a:prstGeom>
        </p:spPr>
        <p:txBody>
          <a:bodyPr lIns="0" tIns="0" rIns="0" bIns="0" rtlCol="0" anchor="t">
            <a:spAutoFit/>
          </a:bodyPr>
          <a:lstStyle/>
          <a:p>
            <a:pPr marL="0" lvl="0" indent="0" algn="l">
              <a:lnSpc>
                <a:spcPts val="3497"/>
              </a:lnSpc>
              <a:spcBef>
                <a:spcPct val="0"/>
              </a:spcBef>
            </a:pPr>
            <a:r>
              <a:rPr lang="en-US" sz="2498">
                <a:solidFill>
                  <a:srgbClr val="52FFCB"/>
                </a:solidFill>
                <a:latin typeface="Poppins"/>
                <a:ea typeface="Poppins"/>
                <a:cs typeface="Poppins"/>
                <a:sym typeface="Poppins"/>
              </a:rPr>
              <a:t>Step-by-Step Process Flow</a:t>
            </a:r>
          </a:p>
        </p:txBody>
      </p:sp>
      <p:sp>
        <p:nvSpPr>
          <p:cNvPr id="15" name="TextBox 15"/>
          <p:cNvSpPr txBox="1"/>
          <p:nvPr/>
        </p:nvSpPr>
        <p:spPr>
          <a:xfrm>
            <a:off x="2115823" y="6705950"/>
            <a:ext cx="8298229" cy="2175852"/>
          </a:xfrm>
          <a:prstGeom prst="rect">
            <a:avLst/>
          </a:prstGeom>
        </p:spPr>
        <p:txBody>
          <a:bodyPr lIns="0" tIns="0" rIns="0" bIns="0" rtlCol="0" anchor="t">
            <a:spAutoFit/>
          </a:bodyPr>
          <a:lstStyle/>
          <a:p>
            <a:pPr marL="259080" lvl="1" indent="-129540" algn="just">
              <a:lnSpc>
                <a:spcPts val="1679"/>
              </a:lnSpc>
              <a:spcBef>
                <a:spcPct val="0"/>
              </a:spcBef>
              <a:buAutoNum type="arabicPeriod"/>
            </a:pPr>
            <a:r>
              <a:rPr lang="en-US" sz="1600" dirty="0">
                <a:solidFill>
                  <a:srgbClr val="52FFCB"/>
                </a:solidFill>
                <a:latin typeface="Poppins Extra-Light"/>
                <a:ea typeface="Poppins Extra-Light"/>
                <a:cs typeface="Poppins Extra-Light"/>
                <a:sym typeface="Poppins Extra-Light"/>
              </a:rPr>
              <a:t>User Input: Patient enters health data including blood pressure, glucose levels, BMI, age, and lifestyle factors through the intuitive dashboard interface.</a:t>
            </a:r>
          </a:p>
          <a:p>
            <a:pPr marL="259080" lvl="1" indent="-129540" algn="just">
              <a:lnSpc>
                <a:spcPts val="1679"/>
              </a:lnSpc>
              <a:spcBef>
                <a:spcPct val="0"/>
              </a:spcBef>
              <a:buAutoNum type="arabicPeriod"/>
            </a:pPr>
            <a:r>
              <a:rPr lang="en-US" sz="1600" dirty="0">
                <a:solidFill>
                  <a:srgbClr val="52FFCB"/>
                </a:solidFill>
                <a:latin typeface="Poppins Extra-Light"/>
                <a:ea typeface="Poppins Extra-Light"/>
                <a:cs typeface="Poppins Extra-Light"/>
                <a:sym typeface="Poppins Extra-Light"/>
              </a:rPr>
              <a:t>Data Processing: The system validates, normalizes, and preprocesses the input data to ensure accuracy and compatibility with the AI model.</a:t>
            </a:r>
          </a:p>
          <a:p>
            <a:pPr marL="259080" lvl="1" indent="-129540" algn="just">
              <a:lnSpc>
                <a:spcPts val="1679"/>
              </a:lnSpc>
              <a:spcBef>
                <a:spcPct val="0"/>
              </a:spcBef>
              <a:buAutoNum type="arabicPeriod"/>
            </a:pPr>
            <a:r>
              <a:rPr lang="en-US" sz="1600" dirty="0">
                <a:solidFill>
                  <a:srgbClr val="52FFCB"/>
                </a:solidFill>
                <a:latin typeface="Poppins Extra-Light"/>
                <a:ea typeface="Poppins Extra-Light"/>
                <a:cs typeface="Poppins Extra-Light"/>
                <a:sym typeface="Poppins Extra-Light"/>
              </a:rPr>
              <a:t>AI Analysis: Our trained machine learning model analyzes the processed data using advanced algorithms to detect patterns and anomalies.</a:t>
            </a:r>
          </a:p>
          <a:p>
            <a:pPr marL="259080" lvl="1" indent="-129540" algn="just">
              <a:lnSpc>
                <a:spcPts val="1679"/>
              </a:lnSpc>
              <a:spcBef>
                <a:spcPct val="0"/>
              </a:spcBef>
              <a:buAutoNum type="arabicPeriod"/>
            </a:pPr>
            <a:r>
              <a:rPr lang="en-US" sz="1600" dirty="0">
                <a:solidFill>
                  <a:srgbClr val="52FFCB"/>
                </a:solidFill>
                <a:latin typeface="Poppins Extra-Light"/>
                <a:ea typeface="Poppins Extra-Light"/>
                <a:cs typeface="Poppins Extra-Light"/>
                <a:sym typeface="Poppins Extra-Light"/>
              </a:rPr>
              <a:t>Risk Assessment: The system calculates disease probability scores and categorizes risk levels (Low, Medium, High) based on AI predictions.</a:t>
            </a:r>
          </a:p>
          <a:p>
            <a:pPr marL="259080" lvl="1" indent="-129540" algn="just">
              <a:lnSpc>
                <a:spcPts val="1679"/>
              </a:lnSpc>
              <a:spcBef>
                <a:spcPct val="0"/>
              </a:spcBef>
              <a:buAutoNum type="arabicPeriod"/>
            </a:pPr>
            <a:r>
              <a:rPr lang="en-US" sz="1600" dirty="0">
                <a:solidFill>
                  <a:srgbClr val="52FFCB"/>
                </a:solidFill>
                <a:latin typeface="Poppins Extra-Light"/>
                <a:ea typeface="Poppins Extra-Light"/>
                <a:cs typeface="Poppins Extra-Light"/>
                <a:sym typeface="Poppins Extra-Light"/>
              </a:rPr>
              <a:t>Results &amp; Recommendations: Users receive comprehensive results including health scores, personalized tips, and doctor consultation suggestions.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sp>
        <p:nvSpPr>
          <p:cNvPr id="11" name="TextBox 11"/>
          <p:cNvSpPr txBox="1"/>
          <p:nvPr/>
        </p:nvSpPr>
        <p:spPr>
          <a:xfrm>
            <a:off x="3019257" y="1823049"/>
            <a:ext cx="12433059" cy="1049420"/>
          </a:xfrm>
          <a:prstGeom prst="rect">
            <a:avLst/>
          </a:prstGeom>
        </p:spPr>
        <p:txBody>
          <a:bodyPr lIns="0" tIns="0" rIns="0" bIns="0" rtlCol="0" anchor="t">
            <a:spAutoFit/>
          </a:bodyPr>
          <a:lstStyle/>
          <a:p>
            <a:pPr marL="0" lvl="0" indent="0" algn="ctr">
              <a:lnSpc>
                <a:spcPts val="6955"/>
              </a:lnSpc>
            </a:pPr>
            <a:r>
              <a:rPr lang="en-US" sz="7994" b="1" spc="-335">
                <a:solidFill>
                  <a:srgbClr val="52FFCB"/>
                </a:solidFill>
                <a:latin typeface="Telegraf Medium"/>
                <a:ea typeface="Telegraf Medium"/>
                <a:cs typeface="Telegraf Medium"/>
                <a:sym typeface="Telegraf Medium"/>
              </a:rPr>
              <a:t>AI MODEL EXPLANATION</a:t>
            </a:r>
          </a:p>
        </p:txBody>
      </p:sp>
      <p:sp>
        <p:nvSpPr>
          <p:cNvPr id="12" name="AutoShape 12"/>
          <p:cNvSpPr/>
          <p:nvPr/>
        </p:nvSpPr>
        <p:spPr>
          <a:xfrm>
            <a:off x="1212273" y="3451425"/>
            <a:ext cx="16047027" cy="0"/>
          </a:xfrm>
          <a:prstGeom prst="line">
            <a:avLst/>
          </a:prstGeom>
          <a:ln w="9525" cap="flat">
            <a:solidFill>
              <a:srgbClr val="52FFCB"/>
            </a:solidFill>
            <a:prstDash val="solid"/>
            <a:headEnd type="none" w="sm" len="sm"/>
            <a:tailEnd type="none" w="sm" len="sm"/>
          </a:ln>
        </p:spPr>
        <p:txBody>
          <a:bodyPr/>
          <a:lstStyle/>
          <a:p>
            <a:endParaRPr lang="en-US"/>
          </a:p>
        </p:txBody>
      </p:sp>
      <p:sp>
        <p:nvSpPr>
          <p:cNvPr id="13" name="AutoShape 13"/>
          <p:cNvSpPr/>
          <p:nvPr/>
        </p:nvSpPr>
        <p:spPr>
          <a:xfrm>
            <a:off x="10989441" y="3451425"/>
            <a:ext cx="0" cy="5806875"/>
          </a:xfrm>
          <a:prstGeom prst="line">
            <a:avLst/>
          </a:prstGeom>
          <a:ln w="9525" cap="flat">
            <a:solidFill>
              <a:srgbClr val="52FFCB"/>
            </a:solidFill>
            <a:prstDash val="solid"/>
            <a:headEnd type="none" w="sm" len="sm"/>
            <a:tailEnd type="none" w="sm" len="sm"/>
          </a:ln>
        </p:spPr>
        <p:txBody>
          <a:bodyPr/>
          <a:lstStyle/>
          <a:p>
            <a:endParaRPr lang="en-US"/>
          </a:p>
        </p:txBody>
      </p:sp>
      <p:sp>
        <p:nvSpPr>
          <p:cNvPr id="14" name="TextBox 14"/>
          <p:cNvSpPr txBox="1"/>
          <p:nvPr/>
        </p:nvSpPr>
        <p:spPr>
          <a:xfrm>
            <a:off x="2186151" y="5076825"/>
            <a:ext cx="7916538" cy="441369"/>
          </a:xfrm>
          <a:prstGeom prst="rect">
            <a:avLst/>
          </a:prstGeom>
        </p:spPr>
        <p:txBody>
          <a:bodyPr lIns="0" tIns="0" rIns="0" bIns="0" rtlCol="0" anchor="t">
            <a:spAutoFit/>
          </a:bodyPr>
          <a:lstStyle/>
          <a:p>
            <a:pPr marL="0" lvl="0" indent="0" algn="l">
              <a:lnSpc>
                <a:spcPts val="3497"/>
              </a:lnSpc>
              <a:spcBef>
                <a:spcPct val="0"/>
              </a:spcBef>
            </a:pPr>
            <a:r>
              <a:rPr lang="en-US" sz="2498" dirty="0">
                <a:solidFill>
                  <a:srgbClr val="52FFCB"/>
                </a:solidFill>
                <a:latin typeface="Poppins"/>
                <a:ea typeface="Poppins"/>
                <a:cs typeface="Poppins"/>
                <a:sym typeface="Poppins"/>
              </a:rPr>
              <a:t>How MediScanAI Predicts Disease Risk</a:t>
            </a:r>
          </a:p>
        </p:txBody>
      </p:sp>
      <p:grpSp>
        <p:nvGrpSpPr>
          <p:cNvPr id="15" name="Group 15"/>
          <p:cNvGrpSpPr/>
          <p:nvPr/>
        </p:nvGrpSpPr>
        <p:grpSpPr>
          <a:xfrm>
            <a:off x="10989441" y="3451425"/>
            <a:ext cx="6269859" cy="5806875"/>
            <a:chOff x="0" y="0"/>
            <a:chExt cx="971365" cy="899637"/>
          </a:xfrm>
        </p:grpSpPr>
        <p:sp>
          <p:nvSpPr>
            <p:cNvPr id="16" name="Freeform 16"/>
            <p:cNvSpPr/>
            <p:nvPr/>
          </p:nvSpPr>
          <p:spPr>
            <a:xfrm>
              <a:off x="0" y="0"/>
              <a:ext cx="971365" cy="899637"/>
            </a:xfrm>
            <a:custGeom>
              <a:avLst/>
              <a:gdLst/>
              <a:ahLst/>
              <a:cxnLst/>
              <a:rect l="l" t="t" r="r" b="b"/>
              <a:pathLst>
                <a:path w="971365" h="899637">
                  <a:moveTo>
                    <a:pt x="0" y="0"/>
                  </a:moveTo>
                  <a:lnTo>
                    <a:pt x="971365" y="0"/>
                  </a:lnTo>
                  <a:lnTo>
                    <a:pt x="971365" y="899637"/>
                  </a:lnTo>
                  <a:lnTo>
                    <a:pt x="0" y="899637"/>
                  </a:lnTo>
                  <a:close/>
                </a:path>
              </a:pathLst>
            </a:custGeom>
            <a:blipFill>
              <a:blip r:embed="rId2"/>
              <a:stretch>
                <a:fillRect t="-3986" b="-3986"/>
              </a:stretch>
            </a:blipFill>
            <a:ln cap="sq">
              <a:noFill/>
              <a:prstDash val="solid"/>
              <a:miter/>
            </a:ln>
          </p:spPr>
          <p:txBody>
            <a:bodyPr/>
            <a:lstStyle/>
            <a:p>
              <a:endParaRPr lang="en-US"/>
            </a:p>
          </p:txBody>
        </p:sp>
      </p:grpSp>
      <p:sp>
        <p:nvSpPr>
          <p:cNvPr id="17" name="TextBox 17"/>
          <p:cNvSpPr txBox="1"/>
          <p:nvPr/>
        </p:nvSpPr>
        <p:spPr>
          <a:xfrm>
            <a:off x="2186151" y="5948612"/>
            <a:ext cx="7916538" cy="2175852"/>
          </a:xfrm>
          <a:prstGeom prst="rect">
            <a:avLst/>
          </a:prstGeom>
        </p:spPr>
        <p:txBody>
          <a:bodyPr lIns="0" tIns="0" rIns="0" bIns="0" rtlCol="0" anchor="t">
            <a:spAutoFit/>
          </a:bodyPr>
          <a:lstStyle/>
          <a:p>
            <a:pPr marL="0" lvl="0" indent="0" algn="just">
              <a:lnSpc>
                <a:spcPts val="1743"/>
              </a:lnSpc>
              <a:spcBef>
                <a:spcPct val="0"/>
              </a:spcBef>
            </a:pPr>
            <a:r>
              <a:rPr lang="en-US" sz="1600" dirty="0">
                <a:solidFill>
                  <a:srgbClr val="52FFCB"/>
                </a:solidFill>
                <a:latin typeface="Poppins Extra-Light"/>
                <a:ea typeface="Poppins Extra-Light"/>
                <a:cs typeface="Poppins Extra-Light"/>
                <a:sym typeface="Poppins Extra-Light"/>
              </a:rPr>
              <a:t>Our machine learning model processes key health parameters to generate accurate disease predictions:</a:t>
            </a:r>
          </a:p>
          <a:p>
            <a:pPr marL="0" lvl="0" indent="0" algn="just">
              <a:lnSpc>
                <a:spcPts val="1743"/>
              </a:lnSpc>
              <a:spcBef>
                <a:spcPct val="0"/>
              </a:spcBef>
            </a:pPr>
            <a:r>
              <a:rPr lang="en-US" sz="1600" dirty="0">
                <a:solidFill>
                  <a:srgbClr val="52FFCB"/>
                </a:solidFill>
                <a:latin typeface="Poppins Extra-Light"/>
                <a:ea typeface="Poppins Extra-Light"/>
                <a:cs typeface="Poppins Extra-Light"/>
                <a:sym typeface="Poppins Extra-Light"/>
              </a:rPr>
              <a:t>• Input Parameters: Blood Pressure, Glucose Levels, BMI, Age, Cholesterol, Heart Rate, Family History</a:t>
            </a:r>
          </a:p>
          <a:p>
            <a:pPr marL="0" lvl="0" indent="0" algn="just">
              <a:lnSpc>
                <a:spcPts val="1743"/>
              </a:lnSpc>
              <a:spcBef>
                <a:spcPct val="0"/>
              </a:spcBef>
            </a:pPr>
            <a:r>
              <a:rPr lang="en-US" sz="1600" dirty="0">
                <a:solidFill>
                  <a:srgbClr val="52FFCB"/>
                </a:solidFill>
                <a:latin typeface="Poppins Extra-Light"/>
                <a:ea typeface="Poppins Extra-Light"/>
                <a:cs typeface="Poppins Extra-Light"/>
                <a:sym typeface="Poppins Extra-Light"/>
              </a:rPr>
              <a:t>• ML Processing: Data normalization → Feature extraction → Neural network analysis → Pattern recognition</a:t>
            </a:r>
          </a:p>
          <a:p>
            <a:pPr marL="0" lvl="0" indent="0" algn="just">
              <a:lnSpc>
                <a:spcPts val="1743"/>
              </a:lnSpc>
              <a:spcBef>
                <a:spcPct val="0"/>
              </a:spcBef>
            </a:pPr>
            <a:r>
              <a:rPr lang="en-US" sz="1600" dirty="0">
                <a:solidFill>
                  <a:srgbClr val="52FFCB"/>
                </a:solidFill>
                <a:latin typeface="Poppins Extra-Light"/>
                <a:ea typeface="Poppins Extra-Light"/>
                <a:cs typeface="Poppins Extra-Light"/>
                <a:sym typeface="Poppins Extra-Light"/>
              </a:rPr>
              <a:t>• Output: Disease probability score (0-100%), Risk classification (Low/Medium/High), Confidence interval</a:t>
            </a:r>
          </a:p>
          <a:p>
            <a:pPr marL="0" lvl="0" indent="0" algn="just">
              <a:lnSpc>
                <a:spcPts val="1743"/>
              </a:lnSpc>
              <a:spcBef>
                <a:spcPct val="0"/>
              </a:spcBef>
            </a:pPr>
            <a:r>
              <a:rPr lang="en-US" sz="1600" dirty="0">
                <a:solidFill>
                  <a:srgbClr val="52FFCB"/>
                </a:solidFill>
                <a:latin typeface="Poppins Extra-Light"/>
                <a:ea typeface="Poppins Extra-Light"/>
                <a:cs typeface="Poppins Extra-Light"/>
                <a:sym typeface="Poppins Extra-Light"/>
              </a:rPr>
              <a:t>The model achieves 94% accuracy through ensemble learning techniques combining Random Forest and Deep Neural Networks.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11" name="Group 11"/>
          <p:cNvGrpSpPr/>
          <p:nvPr/>
        </p:nvGrpSpPr>
        <p:grpSpPr>
          <a:xfrm>
            <a:off x="2115823" y="5143500"/>
            <a:ext cx="14548975" cy="4114800"/>
            <a:chOff x="0" y="0"/>
            <a:chExt cx="2254017" cy="637490"/>
          </a:xfrm>
        </p:grpSpPr>
        <p:sp>
          <p:nvSpPr>
            <p:cNvPr id="12" name="Freeform 12"/>
            <p:cNvSpPr/>
            <p:nvPr/>
          </p:nvSpPr>
          <p:spPr>
            <a:xfrm>
              <a:off x="0" y="0"/>
              <a:ext cx="2254017" cy="637490"/>
            </a:xfrm>
            <a:custGeom>
              <a:avLst/>
              <a:gdLst/>
              <a:ahLst/>
              <a:cxnLst/>
              <a:rect l="l" t="t" r="r" b="b"/>
              <a:pathLst>
                <a:path w="2254017" h="637490">
                  <a:moveTo>
                    <a:pt x="0" y="0"/>
                  </a:moveTo>
                  <a:lnTo>
                    <a:pt x="2254017" y="0"/>
                  </a:lnTo>
                  <a:lnTo>
                    <a:pt x="2254017" y="637490"/>
                  </a:lnTo>
                  <a:lnTo>
                    <a:pt x="0" y="637490"/>
                  </a:lnTo>
                  <a:close/>
                </a:path>
              </a:pathLst>
            </a:custGeom>
            <a:blipFill>
              <a:blip r:embed="rId2"/>
              <a:stretch>
                <a:fillRect t="-50769" b="-50769"/>
              </a:stretch>
            </a:blipFill>
            <a:ln cap="sq">
              <a:noFill/>
              <a:prstDash val="solid"/>
              <a:miter/>
            </a:ln>
          </p:spPr>
          <p:txBody>
            <a:bodyPr/>
            <a:lstStyle/>
            <a:p>
              <a:endParaRPr lang="en-US"/>
            </a:p>
          </p:txBody>
        </p:sp>
      </p:grpSp>
      <p:sp>
        <p:nvSpPr>
          <p:cNvPr id="13" name="TextBox 13"/>
          <p:cNvSpPr txBox="1"/>
          <p:nvPr/>
        </p:nvSpPr>
        <p:spPr>
          <a:xfrm>
            <a:off x="2115823" y="1815291"/>
            <a:ext cx="7119963" cy="2802020"/>
          </a:xfrm>
          <a:prstGeom prst="rect">
            <a:avLst/>
          </a:prstGeom>
        </p:spPr>
        <p:txBody>
          <a:bodyPr lIns="0" tIns="0" rIns="0" bIns="0" rtlCol="0" anchor="t">
            <a:spAutoFit/>
          </a:bodyPr>
          <a:lstStyle/>
          <a:p>
            <a:pPr marL="0" lvl="0" indent="0" algn="l">
              <a:lnSpc>
                <a:spcPts val="6955"/>
              </a:lnSpc>
            </a:pPr>
            <a:r>
              <a:rPr lang="en-US" sz="7994" b="1" spc="-335" dirty="0">
                <a:solidFill>
                  <a:srgbClr val="52FFCB"/>
                </a:solidFill>
                <a:latin typeface="Telegraf Medium"/>
                <a:ea typeface="Telegraf Medium"/>
                <a:cs typeface="Telegraf Medium"/>
                <a:sym typeface="Telegraf Medium"/>
              </a:rPr>
              <a:t>KEY FEATURES OF MEDISCANAI</a:t>
            </a:r>
          </a:p>
        </p:txBody>
      </p:sp>
      <p:sp>
        <p:nvSpPr>
          <p:cNvPr id="14" name="TextBox 14"/>
          <p:cNvSpPr txBox="1"/>
          <p:nvPr/>
        </p:nvSpPr>
        <p:spPr>
          <a:xfrm>
            <a:off x="10469504" y="1935340"/>
            <a:ext cx="6195294" cy="441369"/>
          </a:xfrm>
          <a:prstGeom prst="rect">
            <a:avLst/>
          </a:prstGeom>
        </p:spPr>
        <p:txBody>
          <a:bodyPr lIns="0" tIns="0" rIns="0" bIns="0" rtlCol="0" anchor="t">
            <a:spAutoFit/>
          </a:bodyPr>
          <a:lstStyle/>
          <a:p>
            <a:pPr marL="0" lvl="0" indent="0" algn="l">
              <a:lnSpc>
                <a:spcPts val="3497"/>
              </a:lnSpc>
              <a:spcBef>
                <a:spcPct val="0"/>
              </a:spcBef>
            </a:pPr>
            <a:r>
              <a:rPr lang="en-US" sz="2498">
                <a:solidFill>
                  <a:srgbClr val="52FFCB"/>
                </a:solidFill>
                <a:latin typeface="Poppins"/>
                <a:ea typeface="Poppins"/>
                <a:cs typeface="Poppins"/>
                <a:sym typeface="Poppins"/>
              </a:rPr>
              <a:t>Comprehensive Healthcare Solutions</a:t>
            </a:r>
          </a:p>
        </p:txBody>
      </p:sp>
      <p:sp>
        <p:nvSpPr>
          <p:cNvPr id="15" name="TextBox 15"/>
          <p:cNvSpPr txBox="1"/>
          <p:nvPr/>
        </p:nvSpPr>
        <p:spPr>
          <a:xfrm>
            <a:off x="10469504" y="2778553"/>
            <a:ext cx="6195294" cy="1490375"/>
          </a:xfrm>
          <a:prstGeom prst="rect">
            <a:avLst/>
          </a:prstGeom>
        </p:spPr>
        <p:txBody>
          <a:bodyPr lIns="0" tIns="0" rIns="0" bIns="0" rtlCol="0" anchor="t">
            <a:spAutoFit/>
          </a:bodyPr>
          <a:lstStyle/>
          <a:p>
            <a:pPr marL="0" lvl="0" indent="0" algn="just">
              <a:lnSpc>
                <a:spcPts val="2378"/>
              </a:lnSpc>
              <a:spcBef>
                <a:spcPct val="0"/>
              </a:spcBef>
            </a:pPr>
            <a:r>
              <a:rPr lang="en-US" sz="1698">
                <a:solidFill>
                  <a:srgbClr val="52FFCB"/>
                </a:solidFill>
                <a:latin typeface="Poppins Extra-Light"/>
                <a:ea typeface="Poppins Extra-Light"/>
                <a:cs typeface="Poppins Extra-Light"/>
                <a:sym typeface="Poppins Extra-Light"/>
              </a:rPr>
              <a:t>Smart Dashboard for real-time health monitoring • AI-Powered Disease Detection with instant analysis • Seamless Doctor Booking integration • Detailed Health Reports with actionable insights • Emergency Alert System for critical situations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sp>
        <p:nvSpPr>
          <p:cNvPr id="11" name="TextBox 11"/>
          <p:cNvSpPr txBox="1"/>
          <p:nvPr/>
        </p:nvSpPr>
        <p:spPr>
          <a:xfrm>
            <a:off x="1975009" y="1964671"/>
            <a:ext cx="7802522" cy="1925720"/>
          </a:xfrm>
          <a:prstGeom prst="rect">
            <a:avLst/>
          </a:prstGeom>
        </p:spPr>
        <p:txBody>
          <a:bodyPr lIns="0" tIns="0" rIns="0" bIns="0" rtlCol="0" anchor="t">
            <a:spAutoFit/>
          </a:bodyPr>
          <a:lstStyle/>
          <a:p>
            <a:pPr marL="0" lvl="0" indent="0" algn="l">
              <a:lnSpc>
                <a:spcPts val="6955"/>
              </a:lnSpc>
            </a:pPr>
            <a:r>
              <a:rPr lang="en-US" sz="7994" b="1" spc="-335">
                <a:solidFill>
                  <a:srgbClr val="52FFCB"/>
                </a:solidFill>
                <a:latin typeface="Telegraf Medium"/>
                <a:ea typeface="Telegraf Medium"/>
                <a:cs typeface="Telegraf Medium"/>
                <a:sym typeface="Telegraf Medium"/>
              </a:rPr>
              <a:t>DASHBOARD OVERVIEW</a:t>
            </a:r>
          </a:p>
        </p:txBody>
      </p:sp>
      <p:sp>
        <p:nvSpPr>
          <p:cNvPr id="12" name="TextBox 12"/>
          <p:cNvSpPr txBox="1"/>
          <p:nvPr/>
        </p:nvSpPr>
        <p:spPr>
          <a:xfrm>
            <a:off x="2136666" y="6445972"/>
            <a:ext cx="6195294" cy="441369"/>
          </a:xfrm>
          <a:prstGeom prst="rect">
            <a:avLst/>
          </a:prstGeom>
        </p:spPr>
        <p:txBody>
          <a:bodyPr lIns="0" tIns="0" rIns="0" bIns="0" rtlCol="0" anchor="t">
            <a:spAutoFit/>
          </a:bodyPr>
          <a:lstStyle/>
          <a:p>
            <a:pPr marL="0" lvl="0" indent="0" algn="l">
              <a:lnSpc>
                <a:spcPts val="3497"/>
              </a:lnSpc>
              <a:spcBef>
                <a:spcPct val="0"/>
              </a:spcBef>
            </a:pPr>
            <a:r>
              <a:rPr lang="en-US" sz="2498">
                <a:solidFill>
                  <a:srgbClr val="52FFCB"/>
                </a:solidFill>
                <a:latin typeface="Poppins"/>
                <a:ea typeface="Poppins"/>
                <a:cs typeface="Poppins"/>
                <a:sym typeface="Poppins"/>
              </a:rPr>
              <a:t>Your Health at a Glance</a:t>
            </a:r>
          </a:p>
        </p:txBody>
      </p:sp>
      <p:sp>
        <p:nvSpPr>
          <p:cNvPr id="13" name="TextBox 13"/>
          <p:cNvSpPr txBox="1"/>
          <p:nvPr/>
        </p:nvSpPr>
        <p:spPr>
          <a:xfrm>
            <a:off x="2136666" y="7308235"/>
            <a:ext cx="7479209" cy="1275734"/>
          </a:xfrm>
          <a:prstGeom prst="rect">
            <a:avLst/>
          </a:prstGeom>
        </p:spPr>
        <p:txBody>
          <a:bodyPr lIns="0" tIns="0" rIns="0" bIns="0" rtlCol="0" anchor="t">
            <a:spAutoFit/>
          </a:bodyPr>
          <a:lstStyle/>
          <a:p>
            <a:pPr marL="0" lvl="0" indent="0" algn="just">
              <a:lnSpc>
                <a:spcPts val="2017"/>
              </a:lnSpc>
              <a:spcBef>
                <a:spcPct val="0"/>
              </a:spcBef>
            </a:pPr>
            <a:r>
              <a:rPr lang="en-US" dirty="0">
                <a:solidFill>
                  <a:srgbClr val="52FFCB"/>
                </a:solidFill>
                <a:latin typeface="Poppins Extra-Light"/>
                <a:ea typeface="Poppins Extra-Light"/>
                <a:cs typeface="Poppins Extra-Light"/>
                <a:sym typeface="Poppins Extra-Light"/>
              </a:rPr>
              <a:t>The MediScanAI dashboard provides a comprehensive health overview featuring a dynamic Health Score (0-100), color-coded Risk Level indicators (Low/Medium/High), Quick Actions for instant disease screening and doctor booking, and Personalized Recommendations based on your health profile and AI analysis.</a:t>
            </a:r>
          </a:p>
        </p:txBody>
      </p:sp>
      <p:grpSp>
        <p:nvGrpSpPr>
          <p:cNvPr id="14" name="Group 14"/>
          <p:cNvGrpSpPr/>
          <p:nvPr/>
        </p:nvGrpSpPr>
        <p:grpSpPr>
          <a:xfrm>
            <a:off x="10444281" y="1698837"/>
            <a:ext cx="6149231" cy="7040051"/>
            <a:chOff x="0" y="0"/>
            <a:chExt cx="952677" cy="1090688"/>
          </a:xfrm>
        </p:grpSpPr>
        <p:sp>
          <p:nvSpPr>
            <p:cNvPr id="15" name="Freeform 15"/>
            <p:cNvSpPr/>
            <p:nvPr/>
          </p:nvSpPr>
          <p:spPr>
            <a:xfrm>
              <a:off x="0" y="0"/>
              <a:ext cx="952677" cy="1090688"/>
            </a:xfrm>
            <a:custGeom>
              <a:avLst/>
              <a:gdLst/>
              <a:ahLst/>
              <a:cxnLst/>
              <a:rect l="l" t="t" r="r" b="b"/>
              <a:pathLst>
                <a:path w="952677" h="1090688">
                  <a:moveTo>
                    <a:pt x="0" y="0"/>
                  </a:moveTo>
                  <a:lnTo>
                    <a:pt x="952677" y="0"/>
                  </a:lnTo>
                  <a:lnTo>
                    <a:pt x="952677" y="1090688"/>
                  </a:lnTo>
                  <a:lnTo>
                    <a:pt x="0" y="1090688"/>
                  </a:lnTo>
                  <a:close/>
                </a:path>
              </a:pathLst>
            </a:custGeom>
            <a:blipFill>
              <a:blip r:embed="rId2"/>
              <a:stretch>
                <a:fillRect t="-4000" b="-4000"/>
              </a:stretch>
            </a:blipFill>
            <a:ln cap="sq">
              <a:noFill/>
              <a:prstDash val="solid"/>
              <a:miter/>
            </a:ln>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11" name="Group 11"/>
          <p:cNvGrpSpPr/>
          <p:nvPr/>
        </p:nvGrpSpPr>
        <p:grpSpPr>
          <a:xfrm>
            <a:off x="11433546" y="1028700"/>
            <a:ext cx="5825754" cy="8229600"/>
            <a:chOff x="0" y="0"/>
            <a:chExt cx="902562" cy="1274980"/>
          </a:xfrm>
        </p:grpSpPr>
        <p:sp>
          <p:nvSpPr>
            <p:cNvPr id="12" name="Freeform 12"/>
            <p:cNvSpPr/>
            <p:nvPr/>
          </p:nvSpPr>
          <p:spPr>
            <a:xfrm>
              <a:off x="0" y="0"/>
              <a:ext cx="902562" cy="1274980"/>
            </a:xfrm>
            <a:custGeom>
              <a:avLst/>
              <a:gdLst/>
              <a:ahLst/>
              <a:cxnLst/>
              <a:rect l="l" t="t" r="r" b="b"/>
              <a:pathLst>
                <a:path w="902562" h="1274980">
                  <a:moveTo>
                    <a:pt x="0" y="0"/>
                  </a:moveTo>
                  <a:lnTo>
                    <a:pt x="902562" y="0"/>
                  </a:lnTo>
                  <a:lnTo>
                    <a:pt x="902562" y="1274980"/>
                  </a:lnTo>
                  <a:lnTo>
                    <a:pt x="0" y="1274980"/>
                  </a:lnTo>
                  <a:close/>
                </a:path>
              </a:pathLst>
            </a:custGeom>
            <a:blipFill>
              <a:blip r:embed="rId2"/>
              <a:stretch>
                <a:fillRect t="-2534" b="-2534"/>
              </a:stretch>
            </a:blipFill>
            <a:ln cap="sq">
              <a:noFill/>
              <a:prstDash val="solid"/>
              <a:miter/>
            </a:ln>
          </p:spPr>
          <p:txBody>
            <a:bodyPr/>
            <a:lstStyle/>
            <a:p>
              <a:endParaRPr lang="en-US"/>
            </a:p>
          </p:txBody>
        </p:sp>
      </p:grpSp>
      <p:sp>
        <p:nvSpPr>
          <p:cNvPr id="13" name="TextBox 13"/>
          <p:cNvSpPr txBox="1"/>
          <p:nvPr/>
        </p:nvSpPr>
        <p:spPr>
          <a:xfrm>
            <a:off x="2064573" y="1966880"/>
            <a:ext cx="8469998" cy="1694856"/>
          </a:xfrm>
          <a:prstGeom prst="rect">
            <a:avLst/>
          </a:prstGeom>
        </p:spPr>
        <p:txBody>
          <a:bodyPr lIns="0" tIns="0" rIns="0" bIns="0" rtlCol="0" anchor="t">
            <a:spAutoFit/>
          </a:bodyPr>
          <a:lstStyle/>
          <a:p>
            <a:pPr marL="0" lvl="0" indent="0" algn="l">
              <a:lnSpc>
                <a:spcPts val="6117"/>
              </a:lnSpc>
            </a:pPr>
            <a:r>
              <a:rPr lang="en-US" sz="7031" b="1" spc="-295">
                <a:solidFill>
                  <a:srgbClr val="52FFCB"/>
                </a:solidFill>
                <a:latin typeface="Telegraf Medium"/>
                <a:ea typeface="Telegraf Medium"/>
                <a:cs typeface="Telegraf Medium"/>
                <a:sym typeface="Telegraf Medium"/>
              </a:rPr>
              <a:t>DISEASE DETECTION MODULE</a:t>
            </a:r>
          </a:p>
        </p:txBody>
      </p:sp>
      <p:sp>
        <p:nvSpPr>
          <p:cNvPr id="14" name="TextBox 14"/>
          <p:cNvSpPr txBox="1"/>
          <p:nvPr/>
        </p:nvSpPr>
        <p:spPr>
          <a:xfrm>
            <a:off x="2115823" y="5834163"/>
            <a:ext cx="8469998" cy="441369"/>
          </a:xfrm>
          <a:prstGeom prst="rect">
            <a:avLst/>
          </a:prstGeom>
        </p:spPr>
        <p:txBody>
          <a:bodyPr lIns="0" tIns="0" rIns="0" bIns="0" rtlCol="0" anchor="t">
            <a:spAutoFit/>
          </a:bodyPr>
          <a:lstStyle/>
          <a:p>
            <a:pPr marL="0" lvl="0" indent="0" algn="l">
              <a:lnSpc>
                <a:spcPts val="3497"/>
              </a:lnSpc>
              <a:spcBef>
                <a:spcPct val="0"/>
              </a:spcBef>
            </a:pPr>
            <a:r>
              <a:rPr lang="en-US" sz="2498">
                <a:solidFill>
                  <a:srgbClr val="52FFCB"/>
                </a:solidFill>
                <a:latin typeface="Poppins"/>
                <a:ea typeface="Poppins"/>
                <a:cs typeface="Poppins"/>
                <a:sym typeface="Poppins"/>
              </a:rPr>
              <a:t>Smart Health Parameter Input Interface</a:t>
            </a:r>
          </a:p>
        </p:txBody>
      </p:sp>
      <p:sp>
        <p:nvSpPr>
          <p:cNvPr id="15" name="TextBox 15"/>
          <p:cNvSpPr txBox="1"/>
          <p:nvPr/>
        </p:nvSpPr>
        <p:spPr>
          <a:xfrm>
            <a:off x="2115823" y="6696425"/>
            <a:ext cx="8469998" cy="2052357"/>
          </a:xfrm>
          <a:prstGeom prst="rect">
            <a:avLst/>
          </a:prstGeom>
        </p:spPr>
        <p:txBody>
          <a:bodyPr lIns="0" tIns="0" rIns="0" bIns="0" rtlCol="0" anchor="t">
            <a:spAutoFit/>
          </a:bodyPr>
          <a:lstStyle/>
          <a:p>
            <a:pPr marL="0" lvl="0" indent="0" algn="just">
              <a:lnSpc>
                <a:spcPts val="2029"/>
              </a:lnSpc>
              <a:spcBef>
                <a:spcPct val="0"/>
              </a:spcBef>
            </a:pPr>
            <a:r>
              <a:rPr lang="en-US" dirty="0">
                <a:solidFill>
                  <a:srgbClr val="52FFCB"/>
                </a:solidFill>
                <a:latin typeface="Poppins Extra-Light"/>
                <a:ea typeface="Poppins Extra-Light"/>
                <a:cs typeface="Poppins Extra-Light"/>
                <a:sym typeface="Poppins Extra-Light"/>
              </a:rPr>
              <a:t>The Disease Detection Module features an intuitive input interface where users enter key health parameters for AI analysis. Required inputs include Blood Pressure (systolic/diastolic readings), Glucose Levels (fasting and post-meal), Body Mass Index (BMI), Resting Heart Rate, and Cholesterol Levels (HDL, LDL, total). Additional fields capture age, gender, smoking status, and family medical history. The clean form design guides users through each parameter with helpful tooltips and normal range indicators, ensuring accurate data collection for precise disease prediction.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11" name="Group 11"/>
          <p:cNvGrpSpPr/>
          <p:nvPr/>
        </p:nvGrpSpPr>
        <p:grpSpPr>
          <a:xfrm>
            <a:off x="11180324" y="1028700"/>
            <a:ext cx="5484474" cy="8229600"/>
            <a:chOff x="0" y="0"/>
            <a:chExt cx="849689" cy="1274980"/>
          </a:xfrm>
        </p:grpSpPr>
        <p:sp>
          <p:nvSpPr>
            <p:cNvPr id="12" name="Freeform 12"/>
            <p:cNvSpPr/>
            <p:nvPr/>
          </p:nvSpPr>
          <p:spPr>
            <a:xfrm>
              <a:off x="0" y="0"/>
              <a:ext cx="849689" cy="1274980"/>
            </a:xfrm>
            <a:custGeom>
              <a:avLst/>
              <a:gdLst/>
              <a:ahLst/>
              <a:cxnLst/>
              <a:rect l="l" t="t" r="r" b="b"/>
              <a:pathLst>
                <a:path w="849689" h="1274980">
                  <a:moveTo>
                    <a:pt x="0" y="0"/>
                  </a:moveTo>
                  <a:lnTo>
                    <a:pt x="849689" y="0"/>
                  </a:lnTo>
                  <a:lnTo>
                    <a:pt x="849689" y="1274980"/>
                  </a:lnTo>
                  <a:lnTo>
                    <a:pt x="0" y="1274980"/>
                  </a:lnTo>
                  <a:close/>
                </a:path>
              </a:pathLst>
            </a:custGeom>
            <a:blipFill>
              <a:blip r:embed="rId2"/>
              <a:stretch>
                <a:fillRect l="-548" r="-548"/>
              </a:stretch>
            </a:blipFill>
            <a:ln cap="sq">
              <a:noFill/>
              <a:prstDash val="solid"/>
              <a:miter/>
            </a:ln>
          </p:spPr>
          <p:txBody>
            <a:bodyPr/>
            <a:lstStyle/>
            <a:p>
              <a:endParaRPr lang="en-US"/>
            </a:p>
          </p:txBody>
        </p:sp>
      </p:grpSp>
      <p:sp>
        <p:nvSpPr>
          <p:cNvPr id="13" name="TextBox 13"/>
          <p:cNvSpPr txBox="1"/>
          <p:nvPr/>
        </p:nvSpPr>
        <p:spPr>
          <a:xfrm>
            <a:off x="2115823" y="2010307"/>
            <a:ext cx="7950605" cy="1925956"/>
          </a:xfrm>
          <a:prstGeom prst="rect">
            <a:avLst/>
          </a:prstGeom>
        </p:spPr>
        <p:txBody>
          <a:bodyPr lIns="0" tIns="0" rIns="0" bIns="0" rtlCol="0" anchor="t">
            <a:spAutoFit/>
          </a:bodyPr>
          <a:lstStyle/>
          <a:p>
            <a:pPr marL="0" lvl="0" indent="0" algn="l">
              <a:lnSpc>
                <a:spcPts val="6960"/>
              </a:lnSpc>
            </a:pPr>
            <a:r>
              <a:rPr lang="en-US" sz="8000" b="1" spc="-336">
                <a:solidFill>
                  <a:srgbClr val="52FFCB"/>
                </a:solidFill>
                <a:latin typeface="Telegraf Medium"/>
                <a:ea typeface="Telegraf Medium"/>
                <a:cs typeface="Telegraf Medium"/>
                <a:sym typeface="Telegraf Medium"/>
              </a:rPr>
              <a:t>OUTPUT &amp; RESULTS</a:t>
            </a:r>
          </a:p>
        </p:txBody>
      </p:sp>
      <p:sp>
        <p:nvSpPr>
          <p:cNvPr id="14" name="TextBox 14"/>
          <p:cNvSpPr txBox="1"/>
          <p:nvPr/>
        </p:nvSpPr>
        <p:spPr>
          <a:xfrm>
            <a:off x="2115823" y="5834163"/>
            <a:ext cx="8469998" cy="441369"/>
          </a:xfrm>
          <a:prstGeom prst="rect">
            <a:avLst/>
          </a:prstGeom>
        </p:spPr>
        <p:txBody>
          <a:bodyPr lIns="0" tIns="0" rIns="0" bIns="0" rtlCol="0" anchor="t">
            <a:spAutoFit/>
          </a:bodyPr>
          <a:lstStyle/>
          <a:p>
            <a:pPr marL="0" lvl="0" indent="0" algn="l">
              <a:lnSpc>
                <a:spcPts val="3497"/>
              </a:lnSpc>
              <a:spcBef>
                <a:spcPct val="0"/>
              </a:spcBef>
            </a:pPr>
            <a:r>
              <a:rPr lang="en-US" sz="2498">
                <a:solidFill>
                  <a:srgbClr val="52FFCB"/>
                </a:solidFill>
                <a:latin typeface="Poppins"/>
                <a:ea typeface="Poppins"/>
                <a:cs typeface="Poppins"/>
                <a:sym typeface="Poppins"/>
              </a:rPr>
              <a:t>Understanding Your Health Analysis</a:t>
            </a:r>
          </a:p>
        </p:txBody>
      </p:sp>
      <p:sp>
        <p:nvSpPr>
          <p:cNvPr id="15" name="TextBox 15"/>
          <p:cNvSpPr txBox="1"/>
          <p:nvPr/>
        </p:nvSpPr>
        <p:spPr>
          <a:xfrm>
            <a:off x="2115823" y="6696425"/>
            <a:ext cx="8298229" cy="2052357"/>
          </a:xfrm>
          <a:prstGeom prst="rect">
            <a:avLst/>
          </a:prstGeom>
        </p:spPr>
        <p:txBody>
          <a:bodyPr lIns="0" tIns="0" rIns="0" bIns="0" rtlCol="0" anchor="t">
            <a:spAutoFit/>
          </a:bodyPr>
          <a:lstStyle/>
          <a:p>
            <a:pPr marL="0" lvl="0" indent="0" algn="just">
              <a:lnSpc>
                <a:spcPts val="2041"/>
              </a:lnSpc>
              <a:spcBef>
                <a:spcPct val="0"/>
              </a:spcBef>
            </a:pPr>
            <a:r>
              <a:rPr lang="en-US" dirty="0">
                <a:solidFill>
                  <a:srgbClr val="52FFCB"/>
                </a:solidFill>
                <a:latin typeface="Poppins Extra-Light"/>
                <a:ea typeface="Poppins Extra-Light"/>
                <a:cs typeface="Poppins Extra-Light"/>
                <a:sym typeface="Poppins Extra-Light"/>
              </a:rPr>
              <a:t>MediScanAI delivers comprehensive results through three key outputs: Disease Probability Percentage showing the likelihood of specific conditions based on your health data, Risk Level Classification categorizing your health status as Low, Moderate, or High risk with color-coded indicators, and Personalized Health Tips providing actionable recommendations tailored to your unique health profile. Results are displayed in an intuitive dashboard with visual graphs and easy-to-understand metrics for informed decision-making.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11" name="Group 11"/>
          <p:cNvGrpSpPr/>
          <p:nvPr/>
        </p:nvGrpSpPr>
        <p:grpSpPr>
          <a:xfrm>
            <a:off x="1215004" y="4436564"/>
            <a:ext cx="8172529" cy="4821736"/>
            <a:chOff x="0" y="0"/>
            <a:chExt cx="1266139" cy="747013"/>
          </a:xfrm>
        </p:grpSpPr>
        <p:sp>
          <p:nvSpPr>
            <p:cNvPr id="12" name="Freeform 12"/>
            <p:cNvSpPr/>
            <p:nvPr/>
          </p:nvSpPr>
          <p:spPr>
            <a:xfrm>
              <a:off x="0" y="0"/>
              <a:ext cx="1266139" cy="747013"/>
            </a:xfrm>
            <a:custGeom>
              <a:avLst/>
              <a:gdLst/>
              <a:ahLst/>
              <a:cxnLst/>
              <a:rect l="l" t="t" r="r" b="b"/>
              <a:pathLst>
                <a:path w="1266139" h="747013">
                  <a:moveTo>
                    <a:pt x="0" y="0"/>
                  </a:moveTo>
                  <a:lnTo>
                    <a:pt x="1266139" y="0"/>
                  </a:lnTo>
                  <a:lnTo>
                    <a:pt x="1266139" y="747013"/>
                  </a:lnTo>
                  <a:lnTo>
                    <a:pt x="0" y="747013"/>
                  </a:lnTo>
                  <a:close/>
                </a:path>
              </a:pathLst>
            </a:custGeom>
            <a:blipFill>
              <a:blip r:embed="rId2"/>
              <a:stretch>
                <a:fillRect l="-1753" r="-1753"/>
              </a:stretch>
            </a:blipFill>
            <a:ln cap="sq">
              <a:noFill/>
              <a:prstDash val="solid"/>
              <a:miter/>
            </a:ln>
          </p:spPr>
          <p:txBody>
            <a:bodyPr/>
            <a:lstStyle/>
            <a:p>
              <a:endParaRPr lang="en-US"/>
            </a:p>
          </p:txBody>
        </p:sp>
      </p:grpSp>
      <p:sp>
        <p:nvSpPr>
          <p:cNvPr id="13" name="TextBox 13"/>
          <p:cNvSpPr txBox="1"/>
          <p:nvPr/>
        </p:nvSpPr>
        <p:spPr>
          <a:xfrm>
            <a:off x="3194826" y="1836385"/>
            <a:ext cx="12385415" cy="1049656"/>
          </a:xfrm>
          <a:prstGeom prst="rect">
            <a:avLst/>
          </a:prstGeom>
        </p:spPr>
        <p:txBody>
          <a:bodyPr lIns="0" tIns="0" rIns="0" bIns="0" rtlCol="0" anchor="t">
            <a:spAutoFit/>
          </a:bodyPr>
          <a:lstStyle/>
          <a:p>
            <a:pPr marL="0" lvl="0" indent="0" algn="ctr">
              <a:lnSpc>
                <a:spcPts val="6960"/>
              </a:lnSpc>
            </a:pPr>
            <a:r>
              <a:rPr lang="en-US" sz="8000" b="1" spc="-336">
                <a:solidFill>
                  <a:srgbClr val="52FFCB"/>
                </a:solidFill>
                <a:latin typeface="Telegraf Medium"/>
                <a:ea typeface="Telegraf Medium"/>
                <a:cs typeface="Telegraf Medium"/>
                <a:sym typeface="Telegraf Medium"/>
              </a:rPr>
              <a:t>TECHNOLOGIES USED</a:t>
            </a:r>
          </a:p>
        </p:txBody>
      </p:sp>
      <p:sp>
        <p:nvSpPr>
          <p:cNvPr id="14" name="TextBox 14"/>
          <p:cNvSpPr txBox="1"/>
          <p:nvPr/>
        </p:nvSpPr>
        <p:spPr>
          <a:xfrm>
            <a:off x="10225733" y="6000784"/>
            <a:ext cx="6195294" cy="441369"/>
          </a:xfrm>
          <a:prstGeom prst="rect">
            <a:avLst/>
          </a:prstGeom>
        </p:spPr>
        <p:txBody>
          <a:bodyPr lIns="0" tIns="0" rIns="0" bIns="0" rtlCol="0" anchor="t">
            <a:spAutoFit/>
          </a:bodyPr>
          <a:lstStyle/>
          <a:p>
            <a:pPr marL="0" lvl="0" indent="0" algn="l">
              <a:lnSpc>
                <a:spcPts val="3497"/>
              </a:lnSpc>
              <a:spcBef>
                <a:spcPct val="0"/>
              </a:spcBef>
            </a:pPr>
            <a:r>
              <a:rPr lang="en-US" sz="2498">
                <a:solidFill>
                  <a:srgbClr val="52FFCB"/>
                </a:solidFill>
                <a:latin typeface="Poppins"/>
                <a:ea typeface="Poppins"/>
                <a:cs typeface="Poppins"/>
                <a:sym typeface="Poppins"/>
              </a:rPr>
              <a:t>Our Technical Stack</a:t>
            </a:r>
          </a:p>
        </p:txBody>
      </p:sp>
      <p:sp>
        <p:nvSpPr>
          <p:cNvPr id="15" name="TextBox 15"/>
          <p:cNvSpPr txBox="1"/>
          <p:nvPr/>
        </p:nvSpPr>
        <p:spPr>
          <a:xfrm>
            <a:off x="10225733" y="6853521"/>
            <a:ext cx="6195294" cy="1760610"/>
          </a:xfrm>
          <a:prstGeom prst="rect">
            <a:avLst/>
          </a:prstGeom>
        </p:spPr>
        <p:txBody>
          <a:bodyPr lIns="0" tIns="0" rIns="0" bIns="0" rtlCol="0" anchor="t">
            <a:spAutoFit/>
          </a:bodyPr>
          <a:lstStyle/>
          <a:p>
            <a:pPr marL="0" lvl="0" indent="0" algn="just">
              <a:lnSpc>
                <a:spcPts val="2316"/>
              </a:lnSpc>
              <a:spcBef>
                <a:spcPct val="0"/>
              </a:spcBef>
            </a:pPr>
            <a:r>
              <a:rPr lang="en-US" dirty="0">
                <a:solidFill>
                  <a:srgbClr val="52FFCB"/>
                </a:solidFill>
                <a:latin typeface="Poppins Extra-Light"/>
                <a:ea typeface="Poppins Extra-Light"/>
                <a:cs typeface="Poppins Extra-Light"/>
                <a:sym typeface="Poppins Extra-Light"/>
              </a:rPr>
              <a:t>Frontend: HTML5, CSS3, JavaScript for responsive and intuitive user interfaces. Backend: Python Flask framework for robust API development and server-side logic. AI/ML: Scikit-learn, TensorFlow for disease prediction models. Cloud: AWS EC2, S3, and Lambda for scalable deployment and storage.</a:t>
            </a:r>
          </a:p>
        </p:txBody>
      </p:sp>
      <p:sp>
        <p:nvSpPr>
          <p:cNvPr id="16" name="AutoShape 16"/>
          <p:cNvSpPr/>
          <p:nvPr/>
        </p:nvSpPr>
        <p:spPr>
          <a:xfrm>
            <a:off x="1215004" y="4441327"/>
            <a:ext cx="16047027" cy="0"/>
          </a:xfrm>
          <a:prstGeom prst="line">
            <a:avLst/>
          </a:prstGeom>
          <a:ln w="9525" cap="flat">
            <a:solidFill>
              <a:srgbClr val="52FFCB"/>
            </a:solidFill>
            <a:prstDash val="solid"/>
            <a:headEnd type="none" w="sm" len="sm"/>
            <a:tailEnd type="none" w="sm" len="sm"/>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sp>
        <p:nvSpPr>
          <p:cNvPr id="11" name="TextBox 11"/>
          <p:cNvSpPr txBox="1"/>
          <p:nvPr/>
        </p:nvSpPr>
        <p:spPr>
          <a:xfrm>
            <a:off x="3019257" y="1823049"/>
            <a:ext cx="12433059" cy="1049420"/>
          </a:xfrm>
          <a:prstGeom prst="rect">
            <a:avLst/>
          </a:prstGeom>
        </p:spPr>
        <p:txBody>
          <a:bodyPr lIns="0" tIns="0" rIns="0" bIns="0" rtlCol="0" anchor="t">
            <a:spAutoFit/>
          </a:bodyPr>
          <a:lstStyle/>
          <a:p>
            <a:pPr marL="0" lvl="0" indent="0" algn="ctr">
              <a:lnSpc>
                <a:spcPts val="6955"/>
              </a:lnSpc>
            </a:pPr>
            <a:r>
              <a:rPr lang="en-US" sz="7994" b="1" spc="-335">
                <a:solidFill>
                  <a:srgbClr val="52FFCB"/>
                </a:solidFill>
                <a:latin typeface="Telegraf Medium"/>
                <a:ea typeface="Telegraf Medium"/>
                <a:cs typeface="Telegraf Medium"/>
                <a:sym typeface="Telegraf Medium"/>
              </a:rPr>
              <a:t>ADVANTAGES</a:t>
            </a:r>
          </a:p>
        </p:txBody>
      </p:sp>
      <p:sp>
        <p:nvSpPr>
          <p:cNvPr id="12" name="AutoShape 12"/>
          <p:cNvSpPr/>
          <p:nvPr/>
        </p:nvSpPr>
        <p:spPr>
          <a:xfrm>
            <a:off x="1212273" y="3451425"/>
            <a:ext cx="16047027" cy="0"/>
          </a:xfrm>
          <a:prstGeom prst="line">
            <a:avLst/>
          </a:prstGeom>
          <a:ln w="9525" cap="flat">
            <a:solidFill>
              <a:srgbClr val="52FFCB"/>
            </a:solidFill>
            <a:prstDash val="solid"/>
            <a:headEnd type="none" w="sm" len="sm"/>
            <a:tailEnd type="none" w="sm" len="sm"/>
          </a:ln>
        </p:spPr>
        <p:txBody>
          <a:bodyPr/>
          <a:lstStyle/>
          <a:p>
            <a:endParaRPr lang="en-US"/>
          </a:p>
        </p:txBody>
      </p:sp>
      <p:sp>
        <p:nvSpPr>
          <p:cNvPr id="13" name="AutoShape 13"/>
          <p:cNvSpPr/>
          <p:nvPr/>
        </p:nvSpPr>
        <p:spPr>
          <a:xfrm>
            <a:off x="10989441" y="3451425"/>
            <a:ext cx="0" cy="5806875"/>
          </a:xfrm>
          <a:prstGeom prst="line">
            <a:avLst/>
          </a:prstGeom>
          <a:ln w="9525" cap="flat">
            <a:solidFill>
              <a:srgbClr val="52FFCB"/>
            </a:solidFill>
            <a:prstDash val="solid"/>
            <a:headEnd type="none" w="sm" len="sm"/>
            <a:tailEnd type="none" w="sm" len="sm"/>
          </a:ln>
        </p:spPr>
        <p:txBody>
          <a:bodyPr/>
          <a:lstStyle/>
          <a:p>
            <a:endParaRPr lang="en-US"/>
          </a:p>
        </p:txBody>
      </p:sp>
      <p:sp>
        <p:nvSpPr>
          <p:cNvPr id="14" name="TextBox 14"/>
          <p:cNvSpPr txBox="1"/>
          <p:nvPr/>
        </p:nvSpPr>
        <p:spPr>
          <a:xfrm>
            <a:off x="2186151" y="5076825"/>
            <a:ext cx="7916538" cy="441369"/>
          </a:xfrm>
          <a:prstGeom prst="rect">
            <a:avLst/>
          </a:prstGeom>
        </p:spPr>
        <p:txBody>
          <a:bodyPr lIns="0" tIns="0" rIns="0" bIns="0" rtlCol="0" anchor="t">
            <a:spAutoFit/>
          </a:bodyPr>
          <a:lstStyle/>
          <a:p>
            <a:pPr marL="0" lvl="0" indent="0" algn="l">
              <a:lnSpc>
                <a:spcPts val="3497"/>
              </a:lnSpc>
              <a:spcBef>
                <a:spcPct val="0"/>
              </a:spcBef>
            </a:pPr>
            <a:r>
              <a:rPr lang="en-US" sz="2498" dirty="0">
                <a:solidFill>
                  <a:srgbClr val="52FFCB"/>
                </a:solidFill>
                <a:latin typeface="Poppins"/>
                <a:ea typeface="Poppins"/>
                <a:cs typeface="Poppins"/>
                <a:sym typeface="Poppins"/>
              </a:rPr>
              <a:t>Why Choose MediScanAI?</a:t>
            </a:r>
          </a:p>
        </p:txBody>
      </p:sp>
      <p:grpSp>
        <p:nvGrpSpPr>
          <p:cNvPr id="15" name="Group 15"/>
          <p:cNvGrpSpPr/>
          <p:nvPr/>
        </p:nvGrpSpPr>
        <p:grpSpPr>
          <a:xfrm>
            <a:off x="10989441" y="3451425"/>
            <a:ext cx="6269859" cy="5806875"/>
            <a:chOff x="0" y="0"/>
            <a:chExt cx="971365" cy="899637"/>
          </a:xfrm>
        </p:grpSpPr>
        <p:sp>
          <p:nvSpPr>
            <p:cNvPr id="16" name="Freeform 16"/>
            <p:cNvSpPr/>
            <p:nvPr/>
          </p:nvSpPr>
          <p:spPr>
            <a:xfrm>
              <a:off x="0" y="0"/>
              <a:ext cx="971365" cy="899637"/>
            </a:xfrm>
            <a:custGeom>
              <a:avLst/>
              <a:gdLst/>
              <a:ahLst/>
              <a:cxnLst/>
              <a:rect l="l" t="t" r="r" b="b"/>
              <a:pathLst>
                <a:path w="971365" h="899637">
                  <a:moveTo>
                    <a:pt x="0" y="0"/>
                  </a:moveTo>
                  <a:lnTo>
                    <a:pt x="971365" y="0"/>
                  </a:lnTo>
                  <a:lnTo>
                    <a:pt x="971365" y="899637"/>
                  </a:lnTo>
                  <a:lnTo>
                    <a:pt x="0" y="899637"/>
                  </a:lnTo>
                  <a:close/>
                </a:path>
              </a:pathLst>
            </a:custGeom>
            <a:blipFill>
              <a:blip r:embed="rId2"/>
              <a:stretch>
                <a:fillRect t="-3986" b="-3986"/>
              </a:stretch>
            </a:blipFill>
            <a:ln cap="sq">
              <a:noFill/>
              <a:prstDash val="solid"/>
              <a:miter/>
            </a:ln>
          </p:spPr>
          <p:txBody>
            <a:bodyPr/>
            <a:lstStyle/>
            <a:p>
              <a:endParaRPr lang="en-US"/>
            </a:p>
          </p:txBody>
        </p:sp>
      </p:grpSp>
      <p:sp>
        <p:nvSpPr>
          <p:cNvPr id="17" name="TextBox 17"/>
          <p:cNvSpPr txBox="1"/>
          <p:nvPr/>
        </p:nvSpPr>
        <p:spPr>
          <a:xfrm>
            <a:off x="2186151" y="5948612"/>
            <a:ext cx="7916538" cy="1839221"/>
          </a:xfrm>
          <a:prstGeom prst="rect">
            <a:avLst/>
          </a:prstGeom>
        </p:spPr>
        <p:txBody>
          <a:bodyPr lIns="0" tIns="0" rIns="0" bIns="0" rtlCol="0" anchor="t">
            <a:spAutoFit/>
          </a:bodyPr>
          <a:lstStyle/>
          <a:p>
            <a:pPr marL="0" lvl="0" indent="0" algn="just">
              <a:lnSpc>
                <a:spcPts val="1780"/>
              </a:lnSpc>
              <a:spcBef>
                <a:spcPct val="0"/>
              </a:spcBef>
            </a:pPr>
            <a:r>
              <a:rPr lang="en-US" sz="1600" dirty="0">
                <a:solidFill>
                  <a:srgbClr val="52FFCB"/>
                </a:solidFill>
                <a:latin typeface="Poppins Extra-Light"/>
                <a:ea typeface="Poppins Extra-Light"/>
                <a:cs typeface="Poppins Extra-Light"/>
                <a:sym typeface="Poppins Extra-Light"/>
              </a:rPr>
              <a:t>Fast Diagnosis: AI-powered analysis delivers instant results, reducing wait times from days to seconds.</a:t>
            </a:r>
          </a:p>
          <a:p>
            <a:pPr marL="0" lvl="0" indent="0" algn="just">
              <a:lnSpc>
                <a:spcPts val="1780"/>
              </a:lnSpc>
              <a:spcBef>
                <a:spcPct val="0"/>
              </a:spcBef>
            </a:pPr>
            <a:r>
              <a:rPr lang="en-US" sz="1600" dirty="0">
                <a:solidFill>
                  <a:srgbClr val="52FFCB"/>
                </a:solidFill>
                <a:latin typeface="Poppins Extra-Light"/>
                <a:ea typeface="Poppins Extra-Light"/>
                <a:cs typeface="Poppins Extra-Light"/>
                <a:sym typeface="Poppins Extra-Light"/>
              </a:rPr>
              <a:t>24/7 Accessibility: Access health assessments anytime, anywhere, without scheduling appointments.</a:t>
            </a:r>
          </a:p>
          <a:p>
            <a:pPr marL="0" lvl="0" indent="0" algn="just">
              <a:lnSpc>
                <a:spcPts val="1780"/>
              </a:lnSpc>
              <a:spcBef>
                <a:spcPct val="0"/>
              </a:spcBef>
            </a:pPr>
            <a:r>
              <a:rPr lang="en-US" sz="1600" dirty="0">
                <a:solidFill>
                  <a:srgbClr val="52FFCB"/>
                </a:solidFill>
                <a:latin typeface="Poppins Extra-Light"/>
                <a:ea typeface="Poppins Extra-Light"/>
                <a:cs typeface="Poppins Extra-Light"/>
                <a:sym typeface="Poppins Extra-Light"/>
              </a:rPr>
              <a:t>User-Friendly Interface: Intuitive design requires no technical expertise, making healthcare accessible to all.</a:t>
            </a:r>
          </a:p>
          <a:p>
            <a:pPr marL="0" lvl="0" indent="0" algn="just">
              <a:lnSpc>
                <a:spcPts val="1780"/>
              </a:lnSpc>
              <a:spcBef>
                <a:spcPct val="0"/>
              </a:spcBef>
            </a:pPr>
            <a:r>
              <a:rPr lang="en-US" sz="1600" dirty="0">
                <a:solidFill>
                  <a:srgbClr val="52FFCB"/>
                </a:solidFill>
                <a:latin typeface="Poppins Extra-Light"/>
                <a:ea typeface="Poppins Extra-Light"/>
                <a:cs typeface="Poppins Extra-Light"/>
                <a:sym typeface="Poppins Extra-Light"/>
              </a:rPr>
              <a:t>Cost-Effective: Reduces healthcare costs by minimizing unnecessary hospital visits and enabling early intervention.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sp>
        <p:nvSpPr>
          <p:cNvPr id="11" name="TextBox 11"/>
          <p:cNvSpPr txBox="1"/>
          <p:nvPr/>
        </p:nvSpPr>
        <p:spPr>
          <a:xfrm>
            <a:off x="1975009" y="1964671"/>
            <a:ext cx="7802522" cy="1049656"/>
          </a:xfrm>
          <a:prstGeom prst="rect">
            <a:avLst/>
          </a:prstGeom>
        </p:spPr>
        <p:txBody>
          <a:bodyPr lIns="0" tIns="0" rIns="0" bIns="0" rtlCol="0" anchor="t">
            <a:spAutoFit/>
          </a:bodyPr>
          <a:lstStyle/>
          <a:p>
            <a:pPr marL="0" lvl="0" indent="0" algn="l">
              <a:lnSpc>
                <a:spcPts val="6960"/>
              </a:lnSpc>
            </a:pPr>
            <a:r>
              <a:rPr lang="en-US" sz="8000" b="1" spc="-336">
                <a:solidFill>
                  <a:srgbClr val="52FFCB"/>
                </a:solidFill>
                <a:latin typeface="Telegraf Medium"/>
                <a:ea typeface="Telegraf Medium"/>
                <a:cs typeface="Telegraf Medium"/>
                <a:sym typeface="Telegraf Medium"/>
              </a:rPr>
              <a:t>FUTURE SCOPE</a:t>
            </a:r>
          </a:p>
        </p:txBody>
      </p:sp>
      <p:sp>
        <p:nvSpPr>
          <p:cNvPr id="12" name="TextBox 12"/>
          <p:cNvSpPr txBox="1"/>
          <p:nvPr/>
        </p:nvSpPr>
        <p:spPr>
          <a:xfrm>
            <a:off x="2136666" y="6455497"/>
            <a:ext cx="6195294" cy="399063"/>
          </a:xfrm>
          <a:prstGeom prst="rect">
            <a:avLst/>
          </a:prstGeom>
        </p:spPr>
        <p:txBody>
          <a:bodyPr lIns="0" tIns="0" rIns="0" bIns="0" rtlCol="0" anchor="t">
            <a:spAutoFit/>
          </a:bodyPr>
          <a:lstStyle/>
          <a:p>
            <a:pPr marL="0" lvl="0" indent="0" algn="l">
              <a:lnSpc>
                <a:spcPts val="3204"/>
              </a:lnSpc>
              <a:spcBef>
                <a:spcPct val="0"/>
              </a:spcBef>
            </a:pPr>
            <a:r>
              <a:rPr lang="en-US" sz="2288">
                <a:solidFill>
                  <a:srgbClr val="52FFCB"/>
                </a:solidFill>
                <a:latin typeface="Poppins"/>
                <a:ea typeface="Poppins"/>
                <a:cs typeface="Poppins"/>
                <a:sym typeface="Poppins"/>
              </a:rPr>
              <a:t>Development Roadmap &amp; Expansion Plans</a:t>
            </a:r>
          </a:p>
        </p:txBody>
      </p:sp>
      <p:sp>
        <p:nvSpPr>
          <p:cNvPr id="13" name="TextBox 13"/>
          <p:cNvSpPr txBox="1"/>
          <p:nvPr/>
        </p:nvSpPr>
        <p:spPr>
          <a:xfrm>
            <a:off x="2136666" y="7317760"/>
            <a:ext cx="7479209" cy="1092327"/>
          </a:xfrm>
          <a:prstGeom prst="rect">
            <a:avLst/>
          </a:prstGeom>
        </p:spPr>
        <p:txBody>
          <a:bodyPr lIns="0" tIns="0" rIns="0" bIns="0" rtlCol="0" anchor="t">
            <a:spAutoFit/>
          </a:bodyPr>
          <a:lstStyle/>
          <a:p>
            <a:pPr marL="0" lvl="0" indent="0" algn="just">
              <a:lnSpc>
                <a:spcPts val="1743"/>
              </a:lnSpc>
              <a:spcBef>
                <a:spcPct val="0"/>
              </a:spcBef>
            </a:pPr>
            <a:r>
              <a:rPr lang="en-US" sz="1245">
                <a:solidFill>
                  <a:srgbClr val="52FFCB"/>
                </a:solidFill>
                <a:latin typeface="Poppins Extra-Light"/>
                <a:ea typeface="Poppins Extra-Light"/>
                <a:cs typeface="Poppins Extra-Light"/>
                <a:sym typeface="Poppins Extra-Light"/>
              </a:rPr>
              <a:t>• Mobile App Development: Native iOS and Android applications for on-the-go health monitoring</a:t>
            </a:r>
          </a:p>
          <a:p>
            <a:pPr marL="0" lvl="0" indent="0" algn="just">
              <a:lnSpc>
                <a:spcPts val="1743"/>
              </a:lnSpc>
              <a:spcBef>
                <a:spcPct val="0"/>
              </a:spcBef>
            </a:pPr>
            <a:r>
              <a:rPr lang="en-US" sz="1245">
                <a:solidFill>
                  <a:srgbClr val="52FFCB"/>
                </a:solidFill>
                <a:latin typeface="Poppins Extra-Light"/>
                <a:ea typeface="Poppins Extra-Light"/>
                <a:cs typeface="Poppins Extra-Light"/>
                <a:sym typeface="Poppins Extra-Light"/>
              </a:rPr>
              <a:t>• Wearable Integration: Real-time data sync with smartwatches and fitness trackers</a:t>
            </a:r>
          </a:p>
          <a:p>
            <a:pPr marL="0" lvl="0" indent="0" algn="just">
              <a:lnSpc>
                <a:spcPts val="1743"/>
              </a:lnSpc>
              <a:spcBef>
                <a:spcPct val="0"/>
              </a:spcBef>
            </a:pPr>
            <a:r>
              <a:rPr lang="en-US" sz="1245">
                <a:solidFill>
                  <a:srgbClr val="52FFCB"/>
                </a:solidFill>
                <a:latin typeface="Poppins Extra-Light"/>
                <a:ea typeface="Poppins Extra-Light"/>
                <a:cs typeface="Poppins Extra-Light"/>
                <a:sym typeface="Poppins Extra-Light"/>
              </a:rPr>
              <a:t>• Multi-Language Support: Expanding accessibility to global users with localized interfaces</a:t>
            </a:r>
          </a:p>
          <a:p>
            <a:pPr marL="0" lvl="0" indent="0" algn="just">
              <a:lnSpc>
                <a:spcPts val="1743"/>
              </a:lnSpc>
              <a:spcBef>
                <a:spcPct val="0"/>
              </a:spcBef>
            </a:pPr>
            <a:r>
              <a:rPr lang="en-US" sz="1245">
                <a:solidFill>
                  <a:srgbClr val="52FFCB"/>
                </a:solidFill>
                <a:latin typeface="Poppins Extra-Light"/>
                <a:ea typeface="Poppins Extra-Light"/>
                <a:cs typeface="Poppins Extra-Light"/>
                <a:sym typeface="Poppins Extra-Light"/>
              </a:rPr>
              <a:t>• Expanded Disease Coverage: Adding detection modules for cardiac, neurological, and rare diseases</a:t>
            </a:r>
          </a:p>
        </p:txBody>
      </p:sp>
      <p:grpSp>
        <p:nvGrpSpPr>
          <p:cNvPr id="14" name="Group 14"/>
          <p:cNvGrpSpPr/>
          <p:nvPr/>
        </p:nvGrpSpPr>
        <p:grpSpPr>
          <a:xfrm>
            <a:off x="10444281" y="1698837"/>
            <a:ext cx="6149231" cy="7040051"/>
            <a:chOff x="0" y="0"/>
            <a:chExt cx="952677" cy="1090688"/>
          </a:xfrm>
        </p:grpSpPr>
        <p:sp>
          <p:nvSpPr>
            <p:cNvPr id="15" name="Freeform 15"/>
            <p:cNvSpPr/>
            <p:nvPr/>
          </p:nvSpPr>
          <p:spPr>
            <a:xfrm>
              <a:off x="0" y="0"/>
              <a:ext cx="952677" cy="1090688"/>
            </a:xfrm>
            <a:custGeom>
              <a:avLst/>
              <a:gdLst/>
              <a:ahLst/>
              <a:cxnLst/>
              <a:rect l="l" t="t" r="r" b="b"/>
              <a:pathLst>
                <a:path w="952677" h="1090688">
                  <a:moveTo>
                    <a:pt x="0" y="0"/>
                  </a:moveTo>
                  <a:lnTo>
                    <a:pt x="952677" y="0"/>
                  </a:lnTo>
                  <a:lnTo>
                    <a:pt x="952677" y="1090688"/>
                  </a:lnTo>
                  <a:lnTo>
                    <a:pt x="0" y="1090688"/>
                  </a:lnTo>
                  <a:close/>
                </a:path>
              </a:pathLst>
            </a:custGeom>
            <a:blipFill>
              <a:blip r:embed="rId2"/>
              <a:stretch>
                <a:fillRect t="-4000" b="-4000"/>
              </a:stretch>
            </a:blipFill>
            <a:ln cap="sq">
              <a:noFill/>
              <a:prstDash val="solid"/>
              <a:miter/>
            </a:ln>
          </p:spPr>
          <p:txBody>
            <a:bodyPr/>
            <a:lstStyle/>
            <a:p>
              <a:endParaRPr 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414173" cy="8229600"/>
            <a:chOff x="0" y="0"/>
            <a:chExt cx="1662499" cy="833530"/>
          </a:xfrm>
        </p:grpSpPr>
        <p:sp>
          <p:nvSpPr>
            <p:cNvPr id="3" name="Freeform 3"/>
            <p:cNvSpPr/>
            <p:nvPr/>
          </p:nvSpPr>
          <p:spPr>
            <a:xfrm>
              <a:off x="0" y="0"/>
              <a:ext cx="1662499" cy="833530"/>
            </a:xfrm>
            <a:custGeom>
              <a:avLst/>
              <a:gdLst/>
              <a:ahLst/>
              <a:cxnLst/>
              <a:rect l="l" t="t" r="r" b="b"/>
              <a:pathLst>
                <a:path w="1662499" h="833530">
                  <a:moveTo>
                    <a:pt x="0" y="0"/>
                  </a:moveTo>
                  <a:lnTo>
                    <a:pt x="1662499" y="0"/>
                  </a:lnTo>
                  <a:lnTo>
                    <a:pt x="1662499" y="833530"/>
                  </a:lnTo>
                  <a:lnTo>
                    <a:pt x="0" y="833530"/>
                  </a:lnTo>
                  <a:close/>
                </a:path>
              </a:pathLst>
            </a:custGeom>
            <a:solidFill>
              <a:srgbClr val="184A3B">
                <a:alpha val="36863"/>
              </a:srgbClr>
            </a:solidFill>
            <a:ln w="19050" cap="sq">
              <a:solidFill>
                <a:srgbClr val="52FFCB">
                  <a:alpha val="36863"/>
                </a:srgbClr>
              </a:solidFill>
              <a:prstDash val="solid"/>
              <a:miter/>
            </a:ln>
          </p:spPr>
          <p:txBody>
            <a:bodyPr/>
            <a:lstStyle/>
            <a:p>
              <a:endParaRPr lang="en-US"/>
            </a:p>
          </p:txBody>
        </p:sp>
        <p:sp>
          <p:nvSpPr>
            <p:cNvPr id="4" name="TextBox 4"/>
            <p:cNvSpPr txBox="1"/>
            <p:nvPr/>
          </p:nvSpPr>
          <p:spPr>
            <a:xfrm>
              <a:off x="0" y="-76200"/>
              <a:ext cx="1662499" cy="909730"/>
            </a:xfrm>
            <a:prstGeom prst="rect">
              <a:avLst/>
            </a:prstGeom>
          </p:spPr>
          <p:txBody>
            <a:bodyPr lIns="91115" tIns="91115" rIns="91115" bIns="91115" rtlCol="0" anchor="ctr"/>
            <a:lstStyle/>
            <a:p>
              <a:pPr marL="0" lvl="0" indent="0" algn="ctr">
                <a:lnSpc>
                  <a:spcPts val="3500"/>
                </a:lnSpc>
              </a:pPr>
              <a:endParaRPr/>
            </a:p>
          </p:txBody>
        </p:sp>
      </p:grpSp>
      <p:grpSp>
        <p:nvGrpSpPr>
          <p:cNvPr id="5" name="Group 5"/>
          <p:cNvGrpSpPr/>
          <p:nvPr/>
        </p:nvGrpSpPr>
        <p:grpSpPr>
          <a:xfrm>
            <a:off x="17259300" y="1028700"/>
            <a:ext cx="367146" cy="8229600"/>
            <a:chOff x="0" y="0"/>
            <a:chExt cx="37186" cy="833530"/>
          </a:xfrm>
        </p:grpSpPr>
        <p:sp>
          <p:nvSpPr>
            <p:cNvPr id="6" name="Freeform 6"/>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7" name="TextBox 7"/>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grpSp>
        <p:nvGrpSpPr>
          <p:cNvPr id="8" name="Group 8"/>
          <p:cNvGrpSpPr/>
          <p:nvPr/>
        </p:nvGrpSpPr>
        <p:grpSpPr>
          <a:xfrm>
            <a:off x="845127" y="1028700"/>
            <a:ext cx="367146" cy="8229600"/>
            <a:chOff x="0" y="0"/>
            <a:chExt cx="37186" cy="833530"/>
          </a:xfrm>
        </p:grpSpPr>
        <p:sp>
          <p:nvSpPr>
            <p:cNvPr id="9" name="Freeform 9"/>
            <p:cNvSpPr/>
            <p:nvPr/>
          </p:nvSpPr>
          <p:spPr>
            <a:xfrm>
              <a:off x="0" y="0"/>
              <a:ext cx="37186" cy="833530"/>
            </a:xfrm>
            <a:custGeom>
              <a:avLst/>
              <a:gdLst/>
              <a:ahLst/>
              <a:cxnLst/>
              <a:rect l="l" t="t" r="r" b="b"/>
              <a:pathLst>
                <a:path w="37186" h="833530">
                  <a:moveTo>
                    <a:pt x="0" y="0"/>
                  </a:moveTo>
                  <a:lnTo>
                    <a:pt x="37186" y="0"/>
                  </a:lnTo>
                  <a:lnTo>
                    <a:pt x="37186" y="833530"/>
                  </a:lnTo>
                  <a:lnTo>
                    <a:pt x="0" y="833530"/>
                  </a:lnTo>
                  <a:close/>
                </a:path>
              </a:pathLst>
            </a:custGeom>
            <a:solidFill>
              <a:srgbClr val="52FFCB"/>
            </a:solidFill>
          </p:spPr>
          <p:txBody>
            <a:bodyPr/>
            <a:lstStyle/>
            <a:p>
              <a:endParaRPr lang="en-US"/>
            </a:p>
          </p:txBody>
        </p:sp>
        <p:sp>
          <p:nvSpPr>
            <p:cNvPr id="10" name="TextBox 10"/>
            <p:cNvSpPr txBox="1"/>
            <p:nvPr/>
          </p:nvSpPr>
          <p:spPr>
            <a:xfrm>
              <a:off x="0" y="-76200"/>
              <a:ext cx="37186" cy="909730"/>
            </a:xfrm>
            <a:prstGeom prst="rect">
              <a:avLst/>
            </a:prstGeom>
          </p:spPr>
          <p:txBody>
            <a:bodyPr lIns="91115" tIns="91115" rIns="91115" bIns="91115" rtlCol="0" anchor="ctr"/>
            <a:lstStyle/>
            <a:p>
              <a:pPr marL="0" lvl="0" indent="0" algn="ctr">
                <a:lnSpc>
                  <a:spcPts val="3500"/>
                </a:lnSpc>
              </a:pPr>
              <a:endParaRPr/>
            </a:p>
          </p:txBody>
        </p:sp>
      </p:grpSp>
      <p:sp>
        <p:nvSpPr>
          <p:cNvPr id="11" name="TextBox 11"/>
          <p:cNvSpPr txBox="1"/>
          <p:nvPr/>
        </p:nvSpPr>
        <p:spPr>
          <a:xfrm>
            <a:off x="2998758" y="3189821"/>
            <a:ext cx="12474056" cy="753299"/>
          </a:xfrm>
          <a:prstGeom prst="rect">
            <a:avLst/>
          </a:prstGeom>
        </p:spPr>
        <p:txBody>
          <a:bodyPr lIns="0" tIns="0" rIns="0" bIns="0" rtlCol="0" anchor="t">
            <a:spAutoFit/>
          </a:bodyPr>
          <a:lstStyle/>
          <a:p>
            <a:pPr marL="0" lvl="0" indent="0" algn="ctr">
              <a:lnSpc>
                <a:spcPts val="4960"/>
              </a:lnSpc>
            </a:pPr>
            <a:r>
              <a:rPr lang="en-US" sz="5701" b="1" spc="-239">
                <a:solidFill>
                  <a:srgbClr val="52FFCB"/>
                </a:solidFill>
                <a:latin typeface="Telegraf Medium"/>
                <a:ea typeface="Telegraf Medium"/>
                <a:cs typeface="Telegraf Medium"/>
                <a:sym typeface="Telegraf Medium"/>
              </a:rPr>
              <a:t>THANK YOU!</a:t>
            </a:r>
          </a:p>
        </p:txBody>
      </p:sp>
      <p:sp>
        <p:nvSpPr>
          <p:cNvPr id="12" name="AutoShape 12"/>
          <p:cNvSpPr/>
          <p:nvPr/>
        </p:nvSpPr>
        <p:spPr>
          <a:xfrm>
            <a:off x="1212273" y="6512995"/>
            <a:ext cx="16047027" cy="0"/>
          </a:xfrm>
          <a:prstGeom prst="line">
            <a:avLst/>
          </a:prstGeom>
          <a:ln w="9525" cap="flat">
            <a:solidFill>
              <a:srgbClr val="52FFCB"/>
            </a:solidFill>
            <a:prstDash val="solid"/>
            <a:headEnd type="none" w="sm" len="sm"/>
            <a:tailEnd type="none" w="sm" len="sm"/>
          </a:ln>
        </p:spPr>
        <p:txBody>
          <a:bodyPr/>
          <a:lstStyle/>
          <a:p>
            <a:endParaRPr lang="en-US"/>
          </a:p>
        </p:txBody>
      </p:sp>
      <p:sp>
        <p:nvSpPr>
          <p:cNvPr id="13" name="AutoShape 13"/>
          <p:cNvSpPr/>
          <p:nvPr/>
        </p:nvSpPr>
        <p:spPr>
          <a:xfrm>
            <a:off x="10968942" y="6512995"/>
            <a:ext cx="0" cy="2745305"/>
          </a:xfrm>
          <a:prstGeom prst="line">
            <a:avLst/>
          </a:prstGeom>
          <a:ln w="9525" cap="flat">
            <a:solidFill>
              <a:srgbClr val="52FFCB"/>
            </a:solidFill>
            <a:prstDash val="solid"/>
            <a:headEnd type="none" w="sm" len="sm"/>
            <a:tailEnd type="none" w="sm" len="sm"/>
          </a:ln>
        </p:spPr>
        <p:txBody>
          <a:bodyPr/>
          <a:lstStyle/>
          <a:p>
            <a:endParaRPr lang="en-US"/>
          </a:p>
        </p:txBody>
      </p:sp>
      <p:sp>
        <p:nvSpPr>
          <p:cNvPr id="14" name="TextBox 14"/>
          <p:cNvSpPr txBox="1"/>
          <p:nvPr/>
        </p:nvSpPr>
        <p:spPr>
          <a:xfrm>
            <a:off x="4635655" y="7294070"/>
            <a:ext cx="4724735" cy="874983"/>
          </a:xfrm>
          <a:prstGeom prst="rect">
            <a:avLst/>
          </a:prstGeom>
        </p:spPr>
        <p:txBody>
          <a:bodyPr lIns="0" tIns="0" rIns="0" bIns="0" rtlCol="0" anchor="t">
            <a:spAutoFit/>
          </a:bodyPr>
          <a:lstStyle/>
          <a:p>
            <a:pPr lvl="0">
              <a:lnSpc>
                <a:spcPts val="1679"/>
              </a:lnSpc>
              <a:spcBef>
                <a:spcPct val="0"/>
              </a:spcBef>
            </a:pPr>
            <a:r>
              <a:rPr lang="en-US" sz="1600" dirty="0">
                <a:solidFill>
                  <a:srgbClr val="52FFCB"/>
                </a:solidFill>
                <a:latin typeface="Poppins"/>
                <a:ea typeface="Poppins"/>
                <a:cs typeface="Poppins"/>
                <a:sym typeface="Poppins"/>
              </a:rPr>
              <a:t>                    Project by:</a:t>
            </a:r>
          </a:p>
          <a:p>
            <a:pPr lvl="0">
              <a:lnSpc>
                <a:spcPts val="1679"/>
              </a:lnSpc>
              <a:spcBef>
                <a:spcPct val="0"/>
              </a:spcBef>
            </a:pPr>
            <a:r>
              <a:rPr lang="en-US" sz="1600" dirty="0">
                <a:solidFill>
                  <a:srgbClr val="52FFCB"/>
                </a:solidFill>
                <a:latin typeface="Poppins"/>
                <a:ea typeface="Poppins"/>
                <a:cs typeface="Poppins"/>
                <a:sym typeface="Poppins"/>
              </a:rPr>
              <a:t> Tanish Sahore | Mandip Singh</a:t>
            </a:r>
            <a:br>
              <a:rPr lang="en-US" sz="1600" dirty="0">
                <a:solidFill>
                  <a:srgbClr val="52FFCB"/>
                </a:solidFill>
                <a:latin typeface="Poppins"/>
                <a:ea typeface="Poppins"/>
                <a:cs typeface="Poppins"/>
                <a:sym typeface="Poppins"/>
              </a:rPr>
            </a:br>
            <a:r>
              <a:rPr lang="en-US" sz="1600" dirty="0">
                <a:solidFill>
                  <a:srgbClr val="52FFCB"/>
                </a:solidFill>
                <a:latin typeface="Poppins"/>
                <a:ea typeface="Poppins"/>
                <a:cs typeface="Poppins"/>
                <a:sym typeface="Poppins"/>
              </a:rPr>
              <a:t>      12408996          12412592</a:t>
            </a:r>
          </a:p>
          <a:p>
            <a:pPr marL="0" lvl="0" indent="0" algn="l">
              <a:lnSpc>
                <a:spcPts val="1679"/>
              </a:lnSpc>
              <a:spcBef>
                <a:spcPct val="0"/>
              </a:spcBef>
            </a:pPr>
            <a:r>
              <a:rPr lang="en-US" sz="1600" dirty="0">
                <a:solidFill>
                  <a:srgbClr val="52FFCB"/>
                </a:solidFill>
                <a:latin typeface="Poppins"/>
                <a:ea typeface="Poppins"/>
                <a:cs typeface="Poppins"/>
                <a:sym typeface="Poppins"/>
              </a:rPr>
              <a:t> Lovely Professional University </a:t>
            </a:r>
          </a:p>
        </p:txBody>
      </p:sp>
      <p:grpSp>
        <p:nvGrpSpPr>
          <p:cNvPr id="15" name="Group 15"/>
          <p:cNvGrpSpPr/>
          <p:nvPr/>
        </p:nvGrpSpPr>
        <p:grpSpPr>
          <a:xfrm>
            <a:off x="12481334" y="7627595"/>
            <a:ext cx="3270337" cy="527095"/>
            <a:chOff x="0" y="0"/>
            <a:chExt cx="331234" cy="53387"/>
          </a:xfrm>
        </p:grpSpPr>
        <p:sp>
          <p:nvSpPr>
            <p:cNvPr id="16" name="Freeform 16"/>
            <p:cNvSpPr/>
            <p:nvPr/>
          </p:nvSpPr>
          <p:spPr>
            <a:xfrm>
              <a:off x="0" y="0"/>
              <a:ext cx="331234" cy="53387"/>
            </a:xfrm>
            <a:custGeom>
              <a:avLst/>
              <a:gdLst/>
              <a:ahLst/>
              <a:cxnLst/>
              <a:rect l="l" t="t" r="r" b="b"/>
              <a:pathLst>
                <a:path w="331234" h="53387">
                  <a:moveTo>
                    <a:pt x="0" y="0"/>
                  </a:moveTo>
                  <a:lnTo>
                    <a:pt x="331234" y="0"/>
                  </a:lnTo>
                  <a:lnTo>
                    <a:pt x="331234" y="53387"/>
                  </a:lnTo>
                  <a:lnTo>
                    <a:pt x="0" y="53387"/>
                  </a:lnTo>
                  <a:close/>
                </a:path>
              </a:pathLst>
            </a:custGeom>
            <a:solidFill>
              <a:srgbClr val="52FFCB"/>
            </a:solidFill>
          </p:spPr>
          <p:txBody>
            <a:bodyPr/>
            <a:lstStyle/>
            <a:p>
              <a:endParaRPr lang="en-US"/>
            </a:p>
          </p:txBody>
        </p:sp>
        <p:sp>
          <p:nvSpPr>
            <p:cNvPr id="17" name="TextBox 17"/>
            <p:cNvSpPr txBox="1"/>
            <p:nvPr/>
          </p:nvSpPr>
          <p:spPr>
            <a:xfrm>
              <a:off x="0" y="-28575"/>
              <a:ext cx="331234" cy="81962"/>
            </a:xfrm>
            <a:prstGeom prst="rect">
              <a:avLst/>
            </a:prstGeom>
          </p:spPr>
          <p:txBody>
            <a:bodyPr lIns="91115" tIns="91115" rIns="91115" bIns="91115" rtlCol="0" anchor="ctr"/>
            <a:lstStyle/>
            <a:p>
              <a:pPr marL="0" lvl="0" indent="0" algn="ctr">
                <a:lnSpc>
                  <a:spcPts val="1679"/>
                </a:lnSpc>
              </a:pPr>
              <a:r>
                <a:rPr lang="en-US" sz="1200" dirty="0">
                  <a:solidFill>
                    <a:srgbClr val="184A3B"/>
                  </a:solidFill>
                  <a:latin typeface="Poppins"/>
                  <a:ea typeface="Poppins"/>
                  <a:cs typeface="Poppins"/>
                  <a:sym typeface="Poppins"/>
                </a:rPr>
                <a:t>WWW.MEDISCANAI.COM</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946</Words>
  <Application>Microsoft Office PowerPoint</Application>
  <PresentationFormat>Custom</PresentationFormat>
  <Paragraphs>64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Telegraf Medium</vt:lpstr>
      <vt:lpstr>Poppins</vt:lpstr>
      <vt:lpstr>Arial</vt:lpstr>
      <vt:lpstr>Poppins Extra-Light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dc:creator>LENOVO</dc:creator>
  <cp:lastModifiedBy>Tanish Sahore</cp:lastModifiedBy>
  <cp:revision>6</cp:revision>
  <dcterms:created xsi:type="dcterms:W3CDTF">2006-08-16T00:00:00Z</dcterms:created>
  <dcterms:modified xsi:type="dcterms:W3CDTF">2026-05-04T09:47:59Z</dcterms:modified>
  <dc:identifier>DAHImvQS910</dc:identifier>
</cp:coreProperties>
</file>